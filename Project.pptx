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6"/>
  </p:notesMasterIdLst>
  <p:sldIdLst>
    <p:sldId id="256" r:id="rId2"/>
    <p:sldId id="270" r:id="rId3"/>
    <p:sldId id="257" r:id="rId4"/>
    <p:sldId id="267" r:id="rId5"/>
    <p:sldId id="258" r:id="rId6"/>
    <p:sldId id="259" r:id="rId7"/>
    <p:sldId id="261" r:id="rId8"/>
    <p:sldId id="262" r:id="rId9"/>
    <p:sldId id="260" r:id="rId10"/>
    <p:sldId id="268" r:id="rId11"/>
    <p:sldId id="266" r:id="rId12"/>
    <p:sldId id="269" r:id="rId13"/>
    <p:sldId id="264" r:id="rId14"/>
    <p:sldId id="265" r:id="rId15"/>
  </p:sldIdLst>
  <p:sldSz cx="12192000" cy="6858000"/>
  <p:notesSz cx="6858000" cy="9144000"/>
  <p:embeddedFontLst>
    <p:embeddedFont>
      <p:font typeface="Arial Narrow" panose="020B0606020202030204" pitchFamily="34" charset="0"/>
      <p:regular r:id="rId17"/>
      <p:bold r:id="rId18"/>
      <p:italic r:id="rId19"/>
      <p:boldItalic r:id="rId20"/>
    </p:embeddedFont>
    <p:embeddedFont>
      <p:font typeface="Baskerville Old Face" panose="02020602080505020303" pitchFamily="18" charset="0"/>
      <p:regular r:id="rId21"/>
    </p:embeddedFont>
    <p:embeddedFont>
      <p:font typeface="Gill Sans" panose="020B0604020202020204"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hYr5sPGugmln1c37bj1onyXFgb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629" y="5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30" Type="http://customschemas.google.com/relationships/presentationmetadata" Target="metadata"/><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asadashiv@gmail.com" userId="9ac169a596e7989c" providerId="LiveId" clId="{5C63688B-E367-4EBD-AECD-A90E65623704}"/>
    <pc:docChg chg="undo custSel addSld delSld modSld sldOrd">
      <pc:chgData name="umasadashiv@gmail.com" userId="9ac169a596e7989c" providerId="LiveId" clId="{5C63688B-E367-4EBD-AECD-A90E65623704}" dt="2026-06-11T13:45:25.157" v="358" actId="14100"/>
      <pc:docMkLst>
        <pc:docMk/>
      </pc:docMkLst>
      <pc:sldChg chg="modSp mod">
        <pc:chgData name="umasadashiv@gmail.com" userId="9ac169a596e7989c" providerId="LiveId" clId="{5C63688B-E367-4EBD-AECD-A90E65623704}" dt="2026-06-11T13:44:53.522" v="354" actId="1076"/>
        <pc:sldMkLst>
          <pc:docMk/>
          <pc:sldMk cId="0" sldId="260"/>
        </pc:sldMkLst>
        <pc:spChg chg="mod">
          <ac:chgData name="umasadashiv@gmail.com" userId="9ac169a596e7989c" providerId="LiveId" clId="{5C63688B-E367-4EBD-AECD-A90E65623704}" dt="2026-06-11T13:44:53.522" v="354" actId="1076"/>
          <ac:spMkLst>
            <pc:docMk/>
            <pc:sldMk cId="0" sldId="260"/>
            <ac:spMk id="2" creationId="{B8CC62C6-B268-D574-FBB6-1FD78342C6C6}"/>
          </ac:spMkLst>
        </pc:spChg>
      </pc:sldChg>
      <pc:sldChg chg="addSp delSp modSp new mod">
        <pc:chgData name="umasadashiv@gmail.com" userId="9ac169a596e7989c" providerId="LiveId" clId="{5C63688B-E367-4EBD-AECD-A90E65623704}" dt="2026-06-11T13:41:33.235" v="344" actId="20577"/>
        <pc:sldMkLst>
          <pc:docMk/>
          <pc:sldMk cId="2519775768" sldId="268"/>
        </pc:sldMkLst>
        <pc:spChg chg="add mod">
          <ac:chgData name="umasadashiv@gmail.com" userId="9ac169a596e7989c" providerId="LiveId" clId="{5C63688B-E367-4EBD-AECD-A90E65623704}" dt="2026-06-11T13:41:33.235" v="344" actId="20577"/>
          <ac:spMkLst>
            <pc:docMk/>
            <pc:sldMk cId="2519775768" sldId="268"/>
            <ac:spMk id="2" creationId="{B3D7CDCE-7744-E236-87C9-8D6CAE199A2B}"/>
          </ac:spMkLst>
        </pc:spChg>
      </pc:sldChg>
      <pc:sldChg chg="addSp delSp modSp mod">
        <pc:chgData name="umasadashiv@gmail.com" userId="9ac169a596e7989c" providerId="LiveId" clId="{5C63688B-E367-4EBD-AECD-A90E65623704}" dt="2026-06-11T13:45:25.157" v="358" actId="14100"/>
        <pc:sldMkLst>
          <pc:docMk/>
          <pc:sldMk cId="1775882984" sldId="269"/>
        </pc:sldMkLst>
        <pc:picChg chg="del">
          <ac:chgData name="umasadashiv@gmail.com" userId="9ac169a596e7989c" providerId="LiveId" clId="{5C63688B-E367-4EBD-AECD-A90E65623704}" dt="2026-06-11T13:45:05.993" v="355" actId="478"/>
          <ac:picMkLst>
            <pc:docMk/>
            <pc:sldMk cId="1775882984" sldId="269"/>
            <ac:picMk id="3" creationId="{1B75DB9D-947A-89D6-34F5-00FB46EB1E10}"/>
          </ac:picMkLst>
        </pc:picChg>
        <pc:picChg chg="add mod">
          <ac:chgData name="umasadashiv@gmail.com" userId="9ac169a596e7989c" providerId="LiveId" clId="{5C63688B-E367-4EBD-AECD-A90E65623704}" dt="2026-06-11T13:45:25.157" v="358" actId="14100"/>
          <ac:picMkLst>
            <pc:docMk/>
            <pc:sldMk cId="1775882984" sldId="269"/>
            <ac:picMk id="4" creationId="{03842385-6F8B-F0DA-C7D8-29283E6423F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215635eb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215635eb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215635ebea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215635ebe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B555-D1A6-159A-92FF-F91AE48EEE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5D01FD3-0CEF-6FF5-CB38-DC5EB99C85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329C00-1209-DD63-53C5-B95BF3B25C2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ABC2B8E-C448-86BD-2DD9-E88CE0A721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59C3DB-2330-3932-EC57-89AA022A5846}"/>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416285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AD9E4-E55B-B239-DAF3-1DB00C57E0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4A493F-7023-DCA1-389E-B804BA5784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753EDD-1F6F-38F4-8185-D5115919B62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8FA7950-B3BA-74F9-F4BC-C888CA18CB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E392C5-87DE-6D2F-1824-A1A26BC595B9}"/>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367646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8228E-E83A-E740-6FC0-A103E9B2ED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6E5AE-6708-0F4F-928C-EE86D37113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D918A9A-DD90-726F-ACB6-2E89B4828BB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803761A-4289-A246-03EC-8B2E5398A2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1AABFD-0CD4-0E78-E6E2-D3426B2CBCB1}"/>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2818036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000B0-7CDF-00C5-7194-FE4CF213B3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7229CA-8036-661C-B44D-FE41965183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F392DAB-E1B2-2573-C107-72382A0240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F6E56C-FEAD-7B8A-F26B-3CD9AF8A190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3CC7F7EC-F425-6843-DD1A-9C8FD03960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AC1E55-92BD-2844-31F1-CDDAC71082E4}"/>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556408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46D68-C3BC-C13D-1D8E-C09B22D3BCF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5D825E-5FFC-FAB1-FA30-B2933EB600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197BE-59A8-97C0-DBD4-32262E764A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5826DF-B9E9-EC6C-8B41-DBC4CEC9E3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BD9EE0-9A41-E9E6-33A1-194210753E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0934E92-434B-636A-E7F5-65597B1C2F3F}"/>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79A14568-2AD9-0BF3-FDF3-DD5C4B47907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16BE99-4A08-226D-D097-505C8D9AA38B}"/>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79198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FB455-50C9-3565-6939-1FDC9BF24D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C061226-59DF-D4A2-8E60-65CB5F70CE19}"/>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4DCFCBE5-44A5-3200-3960-FB56A43E51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DD0C58D-36B0-2C4E-C90F-5B429A84A69F}"/>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1468458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536174-EED1-3D29-743C-2257CD2812A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49C8C545-977C-D305-594F-377C0E8B6E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A5FF37-69DC-A1DA-A433-F259BBF02431}"/>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423280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C134E-33F0-7408-9B63-94AA39E50A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0531264-07A9-20EC-9C8F-6EA7694960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7C00BB-8948-C0D7-BB8D-066186812B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C29EA6-1066-34E0-A4A9-98A30E35695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4CBC26F-07AA-F5B9-0E20-DC0BE9FCEF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7FDDDA-5AE9-B58D-5414-588802F38E09}"/>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2314507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3AEAA-E04E-7542-2020-805F868825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266B08-C987-4A4D-6952-4D1E5B19F1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5CF2551-F329-1A73-E02A-2FE55CC9FC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21703-74AE-2E7D-38A5-B66D6E57BAD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9D7B5DA-0E7D-7A6A-F9A7-D7076F0812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8EBD1B-B786-4857-78EB-59CB15E2BBCE}"/>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238936073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EB96-3620-63B2-4452-BF03E5078A3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3FDB79-C0C2-3263-61AF-DE3540DEF1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B1FE60-5D16-3D0B-5922-01BBB3D5136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2AB09F0-E804-3C8A-EB3D-7103A3497B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A0222E-2C91-E6D5-69E6-6904B3050591}"/>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1357001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4950B7-3FE7-64E2-D9F6-2D41E595A4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2892BE-9861-6A8E-FF00-3DA47D5D78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91471E-8672-AC26-A8E3-324DB013A3B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5E97F62-ED39-9E56-C3DD-BA83EE2579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F95BAD-3E36-367D-3477-E30749437564}"/>
              </a:ext>
            </a:extLst>
          </p:cNvPr>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991327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F60044-271A-A36F-A6DC-527DC57193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966B10-4516-088C-3A51-1120DC3F62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E2545E-8EC0-CD4C-6229-E5E98D97B0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4618E5AD-F7C2-3E30-B237-46A2BB21B6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81EE855-519F-C991-38C8-BACCEB2F08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ctr" rtl="0">
              <a:spcBef>
                <a:spcPts val="0"/>
              </a:spcBef>
              <a:spcAft>
                <a:spcPts val="0"/>
              </a:spcAft>
              <a:buNone/>
            </a:pPr>
            <a:fld id="{00000000-1234-1234-1234-123412341234}" type="slidenum">
              <a:rPr lang="en-US" smtClean="0"/>
              <a:pPr marL="0" lvl="0" indent="0" algn="ctr" rtl="0">
                <a:spcBef>
                  <a:spcPts val="0"/>
                </a:spcBef>
                <a:spcAft>
                  <a:spcPts val="0"/>
                </a:spcAft>
                <a:buNone/>
              </a:pPr>
              <a:t>‹#›</a:t>
            </a:fld>
            <a:endParaRPr lang="en-US"/>
          </a:p>
        </p:txBody>
      </p:sp>
    </p:spTree>
    <p:extLst>
      <p:ext uri="{BB962C8B-B14F-4D97-AF65-F5344CB8AC3E}">
        <p14:creationId xmlns:p14="http://schemas.microsoft.com/office/powerpoint/2010/main" val="30596849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5"/>
        <p:cNvGrpSpPr/>
        <p:nvPr/>
      </p:nvGrpSpPr>
      <p:grpSpPr>
        <a:xfrm>
          <a:off x="0" y="0"/>
          <a:ext cx="0" cy="0"/>
          <a:chOff x="0" y="0"/>
          <a:chExt cx="0" cy="0"/>
        </a:xfrm>
      </p:grpSpPr>
      <p:sp>
        <p:nvSpPr>
          <p:cNvPr id="86" name="Google Shape;86;p1"/>
          <p:cNvSpPr txBox="1"/>
          <p:nvPr/>
        </p:nvSpPr>
        <p:spPr>
          <a:xfrm>
            <a:off x="1676400" y="381000"/>
            <a:ext cx="9601200" cy="14157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dirty="0">
                <a:solidFill>
                  <a:schemeClr val="dk1"/>
                </a:solidFill>
                <a:latin typeface="Times New Roman"/>
                <a:ea typeface="Times New Roman"/>
                <a:cs typeface="Times New Roman"/>
                <a:sym typeface="Times New Roman"/>
              </a:rPr>
              <a:t>SURESH ANGADI EDUCATION FOUNDATION’S</a:t>
            </a:r>
            <a:r>
              <a:rPr lang="en-US" sz="1800" b="1" i="0" u="none" strike="noStrike" cap="none" dirty="0">
                <a:solidFill>
                  <a:srgbClr val="FF0000"/>
                </a:solidFill>
                <a:latin typeface="Times New Roman"/>
                <a:ea typeface="Times New Roman"/>
                <a:cs typeface="Times New Roman"/>
                <a:sym typeface="Times New Roman"/>
              </a:rPr>
              <a:t>      </a:t>
            </a:r>
            <a:endParaRPr dirty="0"/>
          </a:p>
          <a:p>
            <a:pPr marL="0" marR="0" lvl="0" indent="0" algn="ctr" rtl="0">
              <a:lnSpc>
                <a:spcPct val="100000"/>
              </a:lnSpc>
              <a:spcBef>
                <a:spcPts val="0"/>
              </a:spcBef>
              <a:spcAft>
                <a:spcPts val="0"/>
              </a:spcAft>
              <a:buClr>
                <a:srgbClr val="FF0000"/>
              </a:buClr>
              <a:buSzPts val="1800"/>
              <a:buFont typeface="Times New Roman"/>
              <a:buNone/>
            </a:pPr>
            <a:r>
              <a:rPr lang="en-US" sz="1800" b="1" i="0" u="none" strike="noStrike" cap="none" dirty="0">
                <a:solidFill>
                  <a:srgbClr val="FF0000"/>
                </a:solidFill>
                <a:latin typeface="Times New Roman"/>
                <a:ea typeface="Times New Roman"/>
                <a:cs typeface="Times New Roman"/>
                <a:sym typeface="Times New Roman"/>
              </a:rPr>
              <a:t> </a:t>
            </a:r>
            <a:r>
              <a:rPr lang="en-US" sz="1800" b="1" i="0" u="none" strike="noStrike" cap="none" dirty="0">
                <a:solidFill>
                  <a:schemeClr val="dk1"/>
                </a:solidFill>
                <a:latin typeface="Times New Roman"/>
                <a:ea typeface="Times New Roman"/>
                <a:cs typeface="Times New Roman"/>
                <a:sym typeface="Times New Roman"/>
              </a:rPr>
              <a:t>ANGADI INSTITUTE OF TECHNOLOGY AND MANAGEMENT                                 </a:t>
            </a:r>
            <a:endParaRPr dirty="0"/>
          </a:p>
          <a:p>
            <a:pPr marL="0" marR="0" lvl="0" indent="0" algn="ctr" rtl="0">
              <a:lnSpc>
                <a:spcPct val="100000"/>
              </a:lnSpc>
              <a:spcBef>
                <a:spcPts val="0"/>
              </a:spcBef>
              <a:spcAft>
                <a:spcPts val="0"/>
              </a:spcAft>
              <a:buClr>
                <a:schemeClr val="dk1"/>
              </a:buClr>
              <a:buSzPts val="1800"/>
              <a:buFont typeface="Times New Roman"/>
              <a:buNone/>
            </a:pPr>
            <a:r>
              <a:rPr lang="en-US" sz="1800" b="0" i="0" u="none" strike="noStrike" cap="none" dirty="0" err="1">
                <a:solidFill>
                  <a:schemeClr val="dk1"/>
                </a:solidFill>
                <a:latin typeface="Times New Roman"/>
                <a:ea typeface="Times New Roman"/>
                <a:cs typeface="Times New Roman"/>
                <a:sym typeface="Times New Roman"/>
              </a:rPr>
              <a:t>Savagaon</a:t>
            </a:r>
            <a:r>
              <a:rPr lang="en-US" sz="1800" b="0" i="0" u="none" strike="noStrike" cap="none" dirty="0">
                <a:solidFill>
                  <a:schemeClr val="dk1"/>
                </a:solidFill>
                <a:latin typeface="Times New Roman"/>
                <a:ea typeface="Times New Roman"/>
                <a:cs typeface="Times New Roman"/>
                <a:sym typeface="Times New Roman"/>
              </a:rPr>
              <a:t> Road, BELAGAVI – 590 009. </a:t>
            </a:r>
            <a:endParaRPr dirty="0"/>
          </a:p>
          <a:p>
            <a:pPr marL="0" marR="0" lvl="0" indent="0" algn="ctr" rtl="0">
              <a:lnSpc>
                <a:spcPct val="100000"/>
              </a:lnSpc>
              <a:spcBef>
                <a:spcPts val="0"/>
              </a:spcBef>
              <a:spcAft>
                <a:spcPts val="0"/>
              </a:spcAft>
              <a:buClr>
                <a:schemeClr val="dk1"/>
              </a:buClr>
              <a:buSzPts val="1800"/>
              <a:buFont typeface="Times New Roman"/>
              <a:buNone/>
            </a:pPr>
            <a:r>
              <a:rPr lang="en-US" sz="1600" b="0" i="0" u="none" strike="noStrike" cap="none" dirty="0">
                <a:solidFill>
                  <a:schemeClr val="dk1"/>
                </a:solidFill>
                <a:latin typeface="Times New Roman"/>
                <a:ea typeface="Times New Roman"/>
                <a:cs typeface="Times New Roman"/>
                <a:sym typeface="Times New Roman"/>
              </a:rPr>
              <a:t>(Approved by AICTE, New Delhi &amp; Affiliated to </a:t>
            </a:r>
            <a:r>
              <a:rPr lang="en-US" sz="1600" b="0" i="0" u="none" strike="noStrike" cap="none" dirty="0" err="1">
                <a:solidFill>
                  <a:schemeClr val="dk1"/>
                </a:solidFill>
                <a:latin typeface="Times New Roman"/>
                <a:ea typeface="Times New Roman"/>
                <a:cs typeface="Times New Roman"/>
                <a:sym typeface="Times New Roman"/>
              </a:rPr>
              <a:t>Visvesvaraya</a:t>
            </a:r>
            <a:r>
              <a:rPr lang="en-US" sz="1600" b="0" i="0" u="none" strike="noStrike" cap="none" dirty="0">
                <a:solidFill>
                  <a:schemeClr val="dk1"/>
                </a:solidFill>
                <a:latin typeface="Times New Roman"/>
                <a:ea typeface="Times New Roman"/>
                <a:cs typeface="Times New Roman"/>
                <a:sym typeface="Times New Roman"/>
              </a:rPr>
              <a:t> Technological University, </a:t>
            </a:r>
            <a:r>
              <a:rPr lang="en-US" sz="1600" b="0" i="0" u="none" strike="noStrike" cap="none" dirty="0" err="1">
                <a:solidFill>
                  <a:schemeClr val="dk1"/>
                </a:solidFill>
                <a:latin typeface="Times New Roman"/>
                <a:ea typeface="Times New Roman"/>
                <a:cs typeface="Times New Roman"/>
                <a:sym typeface="Times New Roman"/>
              </a:rPr>
              <a:t>Belagavi</a:t>
            </a:r>
            <a:r>
              <a:rPr lang="en-US" sz="1600" b="0" i="0" u="none" strike="noStrike" cap="none" dirty="0">
                <a:solidFill>
                  <a:schemeClr val="dk1"/>
                </a:solidFill>
                <a:latin typeface="Times New Roman"/>
                <a:ea typeface="Times New Roman"/>
                <a:cs typeface="Times New Roman"/>
                <a:sym typeface="Times New Roman"/>
              </a:rPr>
              <a:t>, </a:t>
            </a:r>
          </a:p>
          <a:p>
            <a:pPr marL="0" marR="0" lvl="0" indent="0" algn="ctr" rtl="0">
              <a:lnSpc>
                <a:spcPct val="100000"/>
              </a:lnSpc>
              <a:spcBef>
                <a:spcPts val="0"/>
              </a:spcBef>
              <a:spcAft>
                <a:spcPts val="0"/>
              </a:spcAft>
              <a:buClr>
                <a:schemeClr val="dk1"/>
              </a:buClr>
              <a:buSzPts val="1800"/>
              <a:buFont typeface="Times New Roman"/>
              <a:buNone/>
            </a:pPr>
            <a:r>
              <a:rPr lang="en-US" sz="1600" b="0" i="0" u="none" strike="noStrike" cap="none" dirty="0">
                <a:solidFill>
                  <a:schemeClr val="dk1"/>
                </a:solidFill>
                <a:latin typeface="Times New Roman"/>
                <a:ea typeface="Times New Roman"/>
                <a:cs typeface="Times New Roman"/>
                <a:sym typeface="Times New Roman"/>
              </a:rPr>
              <a:t>Accredited by NAAC &amp; *NBA)</a:t>
            </a:r>
            <a:endParaRPr sz="1600" dirty="0"/>
          </a:p>
        </p:txBody>
      </p:sp>
      <p:pic>
        <p:nvPicPr>
          <p:cNvPr id="87" name="Google Shape;87;p1"/>
          <p:cNvPicPr preferRelativeResize="0"/>
          <p:nvPr/>
        </p:nvPicPr>
        <p:blipFill rotWithShape="1">
          <a:blip r:embed="rId3">
            <a:alphaModFix/>
          </a:blip>
          <a:srcRect/>
          <a:stretch/>
        </p:blipFill>
        <p:spPr>
          <a:xfrm>
            <a:off x="381000" y="256849"/>
            <a:ext cx="1676399" cy="1334558"/>
          </a:xfrm>
          <a:prstGeom prst="rect">
            <a:avLst/>
          </a:prstGeom>
          <a:noFill/>
          <a:ln>
            <a:noFill/>
          </a:ln>
        </p:spPr>
      </p:pic>
      <p:sp>
        <p:nvSpPr>
          <p:cNvPr id="89" name="Google Shape;89;p1"/>
          <p:cNvSpPr txBox="1"/>
          <p:nvPr/>
        </p:nvSpPr>
        <p:spPr>
          <a:xfrm>
            <a:off x="1609995" y="2152987"/>
            <a:ext cx="8913628" cy="12926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4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400" dirty="0">
                <a:solidFill>
                  <a:schemeClr val="dk1"/>
                </a:solidFill>
                <a:latin typeface="Times New Roman"/>
                <a:ea typeface="Times New Roman"/>
                <a:cs typeface="Times New Roman"/>
                <a:sym typeface="Times New Roman"/>
              </a:rPr>
              <a:t>                                                                           </a:t>
            </a:r>
            <a:r>
              <a:rPr lang="en-US" sz="2000" b="1" dirty="0">
                <a:solidFill>
                  <a:schemeClr val="dk1"/>
                </a:solidFill>
                <a:latin typeface="Times New Roman"/>
                <a:ea typeface="Times New Roman"/>
                <a:cs typeface="Times New Roman"/>
                <a:sym typeface="Times New Roman"/>
              </a:rPr>
              <a:t>PRESENTATION  ON :</a:t>
            </a:r>
            <a:endParaRPr sz="20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b="1" dirty="0">
              <a:solidFill>
                <a:schemeClr val="dk1"/>
              </a:solidFill>
              <a:latin typeface="Times New Roman"/>
              <a:ea typeface="Times New Roman"/>
              <a:cs typeface="Times New Roman"/>
              <a:sym typeface="Times New Roman"/>
            </a:endParaRPr>
          </a:p>
          <a:p>
            <a:pPr lvl="0" algn="ctr"/>
            <a:r>
              <a:rPr lang="en-US" sz="2000" b="1" dirty="0">
                <a:solidFill>
                  <a:schemeClr val="dk1"/>
                </a:solidFill>
                <a:latin typeface="Times New Roman"/>
                <a:ea typeface="Times New Roman"/>
                <a:cs typeface="Times New Roman"/>
                <a:sym typeface="Times New Roman"/>
              </a:rPr>
              <a:t>“</a:t>
            </a:r>
            <a:r>
              <a:rPr lang="en-US" sz="2400" dirty="0">
                <a:latin typeface="Baskerville Old Face" panose="02020602080505020303" pitchFamily="18" charset="0"/>
              </a:rPr>
              <a:t>Smart Blind Stick: Enhancing Mobility for the Visually Impaired</a:t>
            </a:r>
            <a:r>
              <a:rPr lang="en-US" sz="2000" b="1" dirty="0">
                <a:solidFill>
                  <a:schemeClr val="dk1"/>
                </a:solidFill>
                <a:latin typeface="Times New Roman"/>
                <a:ea typeface="Times New Roman"/>
                <a:cs typeface="Times New Roman"/>
                <a:sym typeface="Times New Roman"/>
              </a:rPr>
              <a:t>”</a:t>
            </a:r>
            <a:endParaRPr sz="2000" dirty="0"/>
          </a:p>
        </p:txBody>
      </p:sp>
      <p:sp>
        <p:nvSpPr>
          <p:cNvPr id="90" name="Google Shape;90;p1"/>
          <p:cNvSpPr txBox="1"/>
          <p:nvPr/>
        </p:nvSpPr>
        <p:spPr>
          <a:xfrm>
            <a:off x="650712" y="4369515"/>
            <a:ext cx="6097772" cy="203128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pPr>
            <a:r>
              <a:rPr lang="en-US" sz="1800" b="1" dirty="0">
                <a:solidFill>
                  <a:schemeClr val="dk1"/>
                </a:solidFill>
                <a:latin typeface="Times New Roman"/>
                <a:ea typeface="Times New Roman"/>
                <a:cs typeface="Times New Roman"/>
                <a:sym typeface="Times New Roman"/>
              </a:rPr>
              <a:t>PRESENTED BY:</a:t>
            </a: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Ms. Tejaswini P </a:t>
            </a:r>
            <a:r>
              <a:rPr lang="en-US" sz="1800" dirty="0" err="1">
                <a:solidFill>
                  <a:schemeClr val="dk1"/>
                </a:solidFill>
                <a:latin typeface="Times New Roman"/>
                <a:cs typeface="Times New Roman"/>
                <a:sym typeface="Times New Roman"/>
              </a:rPr>
              <a:t>Allagi</a:t>
            </a:r>
            <a:endParaRPr lang="en-US" sz="1800" dirty="0">
              <a:solidFill>
                <a:schemeClr val="dk1"/>
              </a:solidFill>
              <a:latin typeface="Times New Roman"/>
              <a:cs typeface="Times New Roman"/>
              <a:sym typeface="Times New Roman"/>
            </a:endParaRP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Ms. Namrata J</a:t>
            </a: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Ms. Surekha </a:t>
            </a:r>
            <a:r>
              <a:rPr lang="en-US" sz="1800" dirty="0" err="1">
                <a:solidFill>
                  <a:schemeClr val="dk1"/>
                </a:solidFill>
                <a:latin typeface="Times New Roman"/>
                <a:cs typeface="Times New Roman"/>
                <a:sym typeface="Times New Roman"/>
              </a:rPr>
              <a:t>Hachdada</a:t>
            </a:r>
            <a:endParaRPr lang="en-US" sz="1800" dirty="0">
              <a:solidFill>
                <a:schemeClr val="dk1"/>
              </a:solidFill>
              <a:latin typeface="Times New Roman"/>
              <a:cs typeface="Times New Roman"/>
              <a:sym typeface="Times New Roman"/>
            </a:endParaRP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Mr. Viresh M</a:t>
            </a: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Ms. Laxmi</a:t>
            </a:r>
          </a:p>
          <a:p>
            <a:pPr marL="0" marR="0" lvl="0" indent="0" algn="l" rtl="0">
              <a:spcBef>
                <a:spcPts val="0"/>
              </a:spcBef>
              <a:spcAft>
                <a:spcPts val="0"/>
              </a:spcAft>
              <a:buClr>
                <a:schemeClr val="dk1"/>
              </a:buClr>
              <a:buSzPts val="1800"/>
              <a:buFont typeface="Times New Roman"/>
              <a:buNone/>
            </a:pPr>
            <a:r>
              <a:rPr lang="en-US" sz="1800" dirty="0">
                <a:solidFill>
                  <a:schemeClr val="dk1"/>
                </a:solidFill>
                <a:latin typeface="Times New Roman"/>
                <a:cs typeface="Times New Roman"/>
                <a:sym typeface="Times New Roman"/>
              </a:rPr>
              <a:t>Mr. Pavan Badiger</a:t>
            </a:r>
            <a:endParaRPr dirty="0"/>
          </a:p>
        </p:txBody>
      </p:sp>
      <p:sp>
        <p:nvSpPr>
          <p:cNvPr id="91" name="Google Shape;91;p1"/>
          <p:cNvSpPr txBox="1"/>
          <p:nvPr/>
        </p:nvSpPr>
        <p:spPr>
          <a:xfrm>
            <a:off x="6748484" y="4346037"/>
            <a:ext cx="609777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                </a:t>
            </a:r>
            <a:r>
              <a:rPr lang="en-US" sz="1800" b="1" dirty="0">
                <a:solidFill>
                  <a:schemeClr val="dk1"/>
                </a:solidFill>
                <a:latin typeface="Times New Roman"/>
                <a:ea typeface="Times New Roman"/>
                <a:cs typeface="Times New Roman"/>
                <a:sym typeface="Times New Roman"/>
              </a:rPr>
              <a:t>GUIDED BY: </a:t>
            </a:r>
            <a:endParaRPr b="1" dirty="0"/>
          </a:p>
          <a:p>
            <a:pPr marL="0" marR="0" lvl="0" indent="0" algn="l" rtl="0">
              <a:spcBef>
                <a:spcPts val="0"/>
              </a:spcBef>
              <a:spcAft>
                <a:spcPts val="0"/>
              </a:spcAft>
              <a:buNone/>
            </a:pPr>
            <a:r>
              <a:rPr lang="en-US" sz="1800" b="1" dirty="0">
                <a:solidFill>
                  <a:schemeClr val="dk1"/>
                </a:solidFill>
                <a:latin typeface="Times New Roman"/>
                <a:ea typeface="Times New Roman"/>
                <a:cs typeface="Times New Roman"/>
                <a:sym typeface="Times New Roman"/>
              </a:rPr>
              <a:t>	</a:t>
            </a:r>
            <a:r>
              <a:rPr lang="en-US" sz="1800" dirty="0">
                <a:solidFill>
                  <a:schemeClr val="dk1"/>
                </a:solidFill>
                <a:latin typeface="Times New Roman"/>
                <a:ea typeface="Times New Roman"/>
                <a:cs typeface="Times New Roman"/>
                <a:sym typeface="Times New Roman"/>
              </a:rPr>
              <a:t>PROF. PRAGATI D HONAGEKAR</a:t>
            </a:r>
            <a:endParaRPr sz="1800" dirty="0">
              <a:solidFill>
                <a:schemeClr val="dk1"/>
              </a:solidFill>
              <a:latin typeface="Times New Roman"/>
              <a:ea typeface="Times New Roman"/>
              <a:cs typeface="Times New Roman"/>
              <a:sym typeface="Times New Roman"/>
            </a:endParaRPr>
          </a:p>
        </p:txBody>
      </p:sp>
      <p:sp>
        <p:nvSpPr>
          <p:cNvPr id="92" name="Google Shape;92;p1"/>
          <p:cNvSpPr/>
          <p:nvPr/>
        </p:nvSpPr>
        <p:spPr>
          <a:xfrm>
            <a:off x="10638130" y="317372"/>
            <a:ext cx="1189435" cy="1213511"/>
          </a:xfrm>
          <a:prstGeom prst="flowChartConnector">
            <a:avLst/>
          </a:prstGeom>
          <a:blipFill rotWithShape="1">
            <a:blip r:embed="rId4">
              <a:alphaModFix/>
            </a:blip>
            <a:stretch>
              <a:fillRect/>
            </a:stretch>
          </a:blipFill>
          <a:ln w="12700" cap="flat" cmpd="sng">
            <a:solidFill>
              <a:srgbClr val="86A794"/>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par>
                                <p:cTn id="8" presetID="10" presetClass="entr" presetSubtype="0" fill="hold"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fade">
                                      <p:cBhvr>
                                        <p:cTn id="10"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CF2AF34-9172-A1E5-B4A0-700AF80265D3}"/>
              </a:ext>
            </a:extLst>
          </p:cNvPr>
          <p:cNvSpPr>
            <a:spLocks noChangeArrowheads="1"/>
          </p:cNvSpPr>
          <p:nvPr/>
        </p:nvSpPr>
        <p:spPr bwMode="auto">
          <a:xfrm>
            <a:off x="457200" y="487025"/>
            <a:ext cx="12268200"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 Introduction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 Problem Statement</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Objectives</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 Literature Survey</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285750" lvl="0" indent="-285750" algn="just" eaLnBrk="0" fontAlgn="base" hangingPunct="0">
              <a:spcBef>
                <a:spcPct val="0"/>
              </a:spcBef>
              <a:spcAft>
                <a:spcPct val="0"/>
              </a:spcAft>
              <a:buFont typeface="Wingdings" panose="05000000000000000000" pitchFamily="2" charset="2"/>
              <a:buChar char="Ø"/>
            </a:pPr>
            <a:r>
              <a:rPr lang="en-US" altLang="en-US" sz="1700" b="1" dirty="0">
                <a:latin typeface="Arial Narrow" panose="020B0606020202030204" pitchFamily="34" charset="0"/>
              </a:rPr>
              <a:t>5.1 Arduino-based Smart Blind Stick (2023) </a:t>
            </a:r>
          </a:p>
          <a:p>
            <a:pPr marL="285750" lvl="0" indent="-285750" algn="just" eaLnBrk="0" fontAlgn="base" hangingPunct="0">
              <a:spcBef>
                <a:spcPct val="0"/>
              </a:spcBef>
              <a:spcAft>
                <a:spcPct val="0"/>
              </a:spcAft>
              <a:buFont typeface="Wingdings" panose="05000000000000000000" pitchFamily="2" charset="2"/>
              <a:buChar char="Ø"/>
            </a:pPr>
            <a:r>
              <a:rPr lang="en-US" altLang="en-US" sz="1700" b="1" dirty="0">
                <a:latin typeface="Arial Narrow" panose="020B0606020202030204" pitchFamily="34" charset="0"/>
              </a:rPr>
              <a:t>5.2 Advanced Smart Blind Stick with GPS &amp; GSM (2024)</a:t>
            </a:r>
          </a:p>
          <a:p>
            <a:pPr lvl="0" algn="just" eaLnBrk="0" fontAlgn="base" hangingPunct="0">
              <a:spcBef>
                <a:spcPct val="0"/>
              </a:spcBef>
              <a:spcAft>
                <a:spcPct val="0"/>
              </a:spcAft>
              <a:buFontTx/>
              <a:buChar char="•"/>
            </a:pPr>
            <a:endParaRPr kumimoji="0" lang="en-US" altLang="en-US" sz="1700" b="1"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System Requirements</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6.1 Software Requirements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6.2 Hardware Requirements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Components Used</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Microcontroller (Arduino Nano)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Sensors (Ultrasonic, Water, GPS)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Communication Module (GSM)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Output Devices (Buzzer, Display)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700" b="1" i="0" u="none" strike="noStrike" cap="none" normalizeH="0" baseline="0" dirty="0">
                <a:ln>
                  <a:noFill/>
                </a:ln>
                <a:solidFill>
                  <a:schemeClr val="tx1"/>
                </a:solidFill>
                <a:effectLst/>
                <a:latin typeface="Arial Narrow" panose="020B0606020202030204" pitchFamily="34" charset="0"/>
              </a:rPr>
              <a:t>Power Supply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Working Principle / System Operation</a:t>
            </a:r>
            <a:r>
              <a:rPr kumimoji="0" lang="en-US" altLang="en-US" sz="1700" b="0" i="0" u="none" strike="noStrike" cap="none" normalizeH="0" baseline="0" dirty="0">
                <a:ln>
                  <a:noFill/>
                </a:ln>
                <a:solidFill>
                  <a:schemeClr val="tx1"/>
                </a:solidFill>
                <a:effectLst/>
                <a:latin typeface="Arial Narrow" panose="020B0606020202030204" pitchFamily="34"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700" b="0" i="0" u="none" strike="noStrike" cap="none" normalizeH="0" baseline="0" dirty="0">
              <a:ln>
                <a:noFill/>
              </a:ln>
              <a:solidFill>
                <a:schemeClr val="tx1"/>
              </a:solidFill>
              <a:effectLst/>
              <a:latin typeface="Arial Narrow" panose="020B0606020202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700" b="1" i="0" u="none" strike="noStrike" cap="none" normalizeH="0" baseline="0" dirty="0">
                <a:ln>
                  <a:noFill/>
                </a:ln>
                <a:solidFill>
                  <a:schemeClr val="tx1"/>
                </a:solidFill>
                <a:effectLst/>
                <a:latin typeface="Arial Narrow" panose="020B0606020202030204" pitchFamily="34" charset="0"/>
              </a:rPr>
              <a:t>Conclusion</a:t>
            </a:r>
            <a:r>
              <a:rPr kumimoji="0" lang="en-US" altLang="en-US" sz="1700" b="0" i="0" u="none" strike="noStrike" cap="none" normalizeH="0" baseline="0" dirty="0">
                <a:ln>
                  <a:noFill/>
                </a:ln>
                <a:solidFill>
                  <a:schemeClr val="tx1"/>
                </a:solidFill>
                <a:effectLst/>
                <a:latin typeface="Arial Narrow" panose="020B0606020202030204" pitchFamily="34" charset="0"/>
              </a:rPr>
              <a:t> </a:t>
            </a:r>
          </a:p>
        </p:txBody>
      </p:sp>
      <p:sp>
        <p:nvSpPr>
          <p:cNvPr id="6" name="TextBox 5">
            <a:extLst>
              <a:ext uri="{FF2B5EF4-FFF2-40B4-BE49-F238E27FC236}">
                <a16:creationId xmlns:a16="http://schemas.microsoft.com/office/drawing/2014/main" id="{97DFE55A-AD0F-15B1-BD8E-13CD1A2194B7}"/>
              </a:ext>
            </a:extLst>
          </p:cNvPr>
          <p:cNvSpPr txBox="1"/>
          <p:nvPr/>
        </p:nvSpPr>
        <p:spPr>
          <a:xfrm>
            <a:off x="530087" y="13252"/>
            <a:ext cx="5562600" cy="584775"/>
          </a:xfrm>
          <a:prstGeom prst="rect">
            <a:avLst/>
          </a:prstGeom>
          <a:noFill/>
        </p:spPr>
        <p:txBody>
          <a:bodyPr wrap="square" rtlCol="0">
            <a:spAutoFit/>
          </a:bodyPr>
          <a:lstStyle/>
          <a:p>
            <a:r>
              <a:rPr lang="en-IN" sz="3200" b="1" dirty="0">
                <a:solidFill>
                  <a:srgbClr val="FF0000"/>
                </a:solidFill>
                <a:latin typeface="Times New Roman" panose="02020603050405020304" pitchFamily="18" charset="0"/>
                <a:cs typeface="Times New Roman" panose="02020603050405020304" pitchFamily="18" charset="0"/>
              </a:rPr>
              <a:t>INDEX: </a:t>
            </a:r>
          </a:p>
        </p:txBody>
      </p:sp>
    </p:spTree>
    <p:extLst>
      <p:ext uri="{BB962C8B-B14F-4D97-AF65-F5344CB8AC3E}">
        <p14:creationId xmlns:p14="http://schemas.microsoft.com/office/powerpoint/2010/main" val="254704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
        <p:cNvGrpSpPr/>
        <p:nvPr/>
      </p:nvGrpSpPr>
      <p:grpSpPr>
        <a:xfrm>
          <a:off x="0" y="0"/>
          <a:ext cx="0" cy="0"/>
          <a:chOff x="0" y="0"/>
          <a:chExt cx="0" cy="0"/>
        </a:xfrm>
      </p:grpSpPr>
      <p:sp>
        <p:nvSpPr>
          <p:cNvPr id="97" name="Google Shape;97;p2"/>
          <p:cNvSpPr txBox="1"/>
          <p:nvPr/>
        </p:nvSpPr>
        <p:spPr>
          <a:xfrm>
            <a:off x="1447800" y="457200"/>
            <a:ext cx="9212824" cy="584775"/>
          </a:xfrm>
          <a:prstGeom prst="rect">
            <a:avLst/>
          </a:prstGeom>
          <a:noFill/>
          <a:ln>
            <a:noFill/>
          </a:ln>
        </p:spPr>
        <p:txBody>
          <a:bodyPr spcFirstLastPara="1" wrap="square" lIns="91425" tIns="45700" rIns="91425" bIns="45700" anchor="t" anchorCtr="0">
            <a:spAutoFit/>
          </a:bodyPr>
          <a:lstStyle/>
          <a:p>
            <a:pPr marR="0" lvl="0" algn="ctr" rtl="0">
              <a:spcBef>
                <a:spcPts val="0"/>
              </a:spcBef>
              <a:spcAft>
                <a:spcPts val="0"/>
              </a:spcAft>
            </a:pPr>
            <a:r>
              <a:rPr lang="en-US" sz="3200" b="1" dirty="0">
                <a:solidFill>
                  <a:srgbClr val="FF0000"/>
                </a:solidFill>
                <a:latin typeface="Times New Roman" panose="02020603050405020304" pitchFamily="18" charset="0"/>
                <a:ea typeface="Times New Roman"/>
                <a:cs typeface="Times New Roman" panose="02020603050405020304" pitchFamily="18" charset="0"/>
                <a:sym typeface="Times New Roman"/>
              </a:rPr>
              <a:t>INTRODUCTION</a:t>
            </a:r>
            <a:endParaRPr sz="3200" b="1"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98" name="Google Shape;98;p2"/>
          <p:cNvSpPr txBox="1"/>
          <p:nvPr/>
        </p:nvSpPr>
        <p:spPr>
          <a:xfrm>
            <a:off x="793101" y="1301049"/>
            <a:ext cx="10941699" cy="3693278"/>
          </a:xfrm>
          <a:prstGeom prst="rect">
            <a:avLst/>
          </a:prstGeom>
          <a:noFill/>
          <a:ln>
            <a:noFill/>
          </a:ln>
        </p:spPr>
        <p:txBody>
          <a:bodyPr spcFirstLastPara="1" wrap="square" lIns="91425" tIns="45700" rIns="91425" bIns="45700" anchor="t" anchorCtr="0">
            <a:spAutoFit/>
          </a:bodyPr>
          <a:lstStyle/>
          <a:p>
            <a:pPr algn="just"/>
            <a:r>
              <a:rPr lang="en-US" sz="2600" dirty="0">
                <a:latin typeface="Arial Narrow" panose="020B0606020202030204" pitchFamily="34" charset="0"/>
                <a:ea typeface="Batang" panose="02030600000101010101" pitchFamily="18" charset="-127"/>
              </a:rPr>
              <a:t>The </a:t>
            </a:r>
            <a:r>
              <a:rPr lang="en-US" sz="2600" b="1" dirty="0">
                <a:latin typeface="Arial Narrow" panose="020B0606020202030204" pitchFamily="34" charset="0"/>
                <a:ea typeface="Batang" panose="02030600000101010101" pitchFamily="18" charset="-127"/>
              </a:rPr>
              <a:t>Smart Blind Stick</a:t>
            </a:r>
            <a:r>
              <a:rPr lang="en-US" sz="2600" dirty="0">
                <a:latin typeface="Arial Narrow" panose="020B0606020202030204" pitchFamily="34" charset="0"/>
                <a:ea typeface="Batang" panose="02030600000101010101" pitchFamily="18" charset="-127"/>
              </a:rPr>
              <a:t> is an assistive engineering device developed to enhance the mobility and safety of visually impaired individuals. The system is designed using embedded technology, integrating components such as ultrasonic sensors, a microcontroller, and feedback modules like buzzers or vibration motors. It detects obstacles in the user’s path and provides real-time alerts, enabling safer navigation.</a:t>
            </a:r>
          </a:p>
          <a:p>
            <a:pPr algn="just"/>
            <a:r>
              <a:rPr lang="en-US" sz="2600" dirty="0">
                <a:latin typeface="Arial Narrow" panose="020B0606020202030204" pitchFamily="34" charset="0"/>
                <a:ea typeface="Batang" panose="02030600000101010101" pitchFamily="18" charset="-127"/>
              </a:rPr>
              <a:t>This project combines principles from electronics, programming, and human-centered engineering design to address real-world accessibility challenges. The Smart Blind Stick aims to improve independence, reduce accident risks, and demonstrate the application of modern technology in assistive solutions</a:t>
            </a:r>
            <a:r>
              <a:rPr lang="en-US" sz="2600" dirty="0">
                <a:latin typeface="Arial Narrow" panose="020B0606020202030204" pitchFamily="34" charset="0"/>
              </a:rPr>
              <a:t>.</a:t>
            </a:r>
            <a:endParaRPr sz="2600" dirty="0">
              <a:latin typeface="Arial Narrow" panose="020B0606020202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2328E3-0EE7-6502-CF09-4A8728DAE633}"/>
              </a:ext>
            </a:extLst>
          </p:cNvPr>
          <p:cNvPicPr>
            <a:picLocks noChangeAspect="1"/>
          </p:cNvPicPr>
          <p:nvPr/>
        </p:nvPicPr>
        <p:blipFill>
          <a:blip r:embed="rId2"/>
          <a:srcRect t="14443" r="485" b="20000"/>
          <a:stretch>
            <a:fillRect/>
          </a:stretch>
        </p:blipFill>
        <p:spPr>
          <a:xfrm>
            <a:off x="0" y="381001"/>
            <a:ext cx="12044024" cy="6095999"/>
          </a:xfrm>
          <a:prstGeom prst="rect">
            <a:avLst/>
          </a:prstGeom>
        </p:spPr>
      </p:pic>
      <p:sp>
        <p:nvSpPr>
          <p:cNvPr id="2" name="TextBox 1">
            <a:extLst>
              <a:ext uri="{FF2B5EF4-FFF2-40B4-BE49-F238E27FC236}">
                <a16:creationId xmlns:a16="http://schemas.microsoft.com/office/drawing/2014/main" id="{F45E93D0-9468-B897-8F7A-C4420859E66C}"/>
              </a:ext>
            </a:extLst>
          </p:cNvPr>
          <p:cNvSpPr txBox="1"/>
          <p:nvPr/>
        </p:nvSpPr>
        <p:spPr>
          <a:xfrm>
            <a:off x="4648200" y="88612"/>
            <a:ext cx="3352800" cy="584775"/>
          </a:xfrm>
          <a:prstGeom prst="rect">
            <a:avLst/>
          </a:prstGeom>
          <a:noFill/>
        </p:spPr>
        <p:txBody>
          <a:bodyPr wrap="square" rtlCol="0">
            <a:spAutoFit/>
          </a:bodyPr>
          <a:lstStyle/>
          <a:p>
            <a:pPr algn="just"/>
            <a:r>
              <a:rPr lang="en-IN" sz="3200" b="1" dirty="0">
                <a:solidFill>
                  <a:srgbClr val="FF0000"/>
                </a:solidFill>
                <a:latin typeface="Times New Roman" panose="02020603050405020304" pitchFamily="18" charset="0"/>
                <a:cs typeface="Times New Roman" panose="02020603050405020304" pitchFamily="18" charset="0"/>
              </a:rPr>
              <a:t>FLOW - CHART</a:t>
            </a:r>
          </a:p>
        </p:txBody>
      </p:sp>
    </p:spTree>
    <p:extLst>
      <p:ext uri="{BB962C8B-B14F-4D97-AF65-F5344CB8AC3E}">
        <p14:creationId xmlns:p14="http://schemas.microsoft.com/office/powerpoint/2010/main" val="6418281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102"/>
        <p:cNvGrpSpPr/>
        <p:nvPr/>
      </p:nvGrpSpPr>
      <p:grpSpPr>
        <a:xfrm>
          <a:off x="0" y="0"/>
          <a:ext cx="0" cy="0"/>
          <a:chOff x="0" y="0"/>
          <a:chExt cx="0" cy="0"/>
        </a:xfrm>
      </p:grpSpPr>
      <p:sp>
        <p:nvSpPr>
          <p:cNvPr id="103" name="Google Shape;103;p3"/>
          <p:cNvSpPr txBox="1"/>
          <p:nvPr/>
        </p:nvSpPr>
        <p:spPr>
          <a:xfrm>
            <a:off x="1484498" y="344500"/>
            <a:ext cx="9077689"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FF0000"/>
                </a:solidFill>
                <a:latin typeface="Times New Roman"/>
                <a:ea typeface="Times New Roman"/>
                <a:cs typeface="Times New Roman"/>
                <a:sym typeface="Times New Roman"/>
              </a:rPr>
              <a:t>PROBLEM STATEMENT </a:t>
            </a:r>
            <a:endParaRPr sz="3200" b="1" dirty="0">
              <a:solidFill>
                <a:srgbClr val="FF0000"/>
              </a:solidFill>
              <a:latin typeface="Times New Roman"/>
              <a:ea typeface="Times New Roman"/>
              <a:cs typeface="Times New Roman"/>
              <a:sym typeface="Times New Roman"/>
            </a:endParaRPr>
          </a:p>
        </p:txBody>
      </p:sp>
      <p:sp>
        <p:nvSpPr>
          <p:cNvPr id="104" name="Google Shape;104;p3"/>
          <p:cNvSpPr txBox="1"/>
          <p:nvPr/>
        </p:nvSpPr>
        <p:spPr>
          <a:xfrm>
            <a:off x="533400" y="1066800"/>
            <a:ext cx="10291666" cy="4893607"/>
          </a:xfrm>
          <a:prstGeom prst="rect">
            <a:avLst/>
          </a:prstGeom>
          <a:noFill/>
          <a:ln>
            <a:noFill/>
          </a:ln>
        </p:spPr>
        <p:txBody>
          <a:bodyPr spcFirstLastPara="1" wrap="square" lIns="91425" tIns="45700" rIns="91425" bIns="45700" anchor="t" anchorCtr="0">
            <a:spAutoFit/>
          </a:bodyPr>
          <a:lstStyle/>
          <a:p>
            <a:pPr marL="285750" indent="-285750" algn="just">
              <a:buFont typeface="Arial" panose="020B0604020202020204" pitchFamily="34" charset="0"/>
              <a:buChar char="•"/>
            </a:pPr>
            <a:r>
              <a:rPr lang="en-US" sz="2600" dirty="0">
                <a:latin typeface="Arial Narrow" panose="020B0606020202030204" pitchFamily="34" charset="0"/>
              </a:rPr>
              <a:t>Visually impaired individuals face significant challenges in navigating their surroundings safely due to the inability to detect obstacles, uneven surfaces, and environmental hazards. Traditional white canes provide limited assistance as they only detect obstacles within a short range and require constant physical contact. This limitation increases the risk of accidents, reduces mobility, and affects the independence of visually challenged individuals.</a:t>
            </a:r>
          </a:p>
          <a:p>
            <a:pPr algn="just"/>
            <a:endParaRPr lang="en-US" sz="2600" dirty="0">
              <a:latin typeface="Arial Narrow" panose="020B0606020202030204" pitchFamily="34" charset="0"/>
            </a:endParaRPr>
          </a:p>
          <a:p>
            <a:pPr marL="285750" indent="-285750" algn="just">
              <a:buFont typeface="Arial" panose="020B0604020202020204" pitchFamily="34" charset="0"/>
              <a:buChar char="•"/>
            </a:pPr>
            <a:r>
              <a:rPr lang="en-US" sz="2600" dirty="0">
                <a:latin typeface="Arial Narrow" panose="020B0606020202030204" pitchFamily="34" charset="0"/>
              </a:rPr>
              <a:t>Therefore, there is a need to develop an intelligent, cost-effective, and user-friendly assistive device that can detect obstacles in real time and provide immediate feedback to the user. The proposed Smart Blind Stick aims to address these challenges by integrating sensor-based technology to enhance safety, mobility, and independence.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sp>
        <p:nvSpPr>
          <p:cNvPr id="110" name="Google Shape;110;p4"/>
          <p:cNvSpPr txBox="1"/>
          <p:nvPr/>
        </p:nvSpPr>
        <p:spPr>
          <a:xfrm>
            <a:off x="550235" y="479869"/>
            <a:ext cx="10550384"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FF0000"/>
                </a:solidFill>
                <a:latin typeface="Times New Roman"/>
                <a:ea typeface="Times New Roman"/>
                <a:cs typeface="Times New Roman"/>
                <a:sym typeface="Times New Roman"/>
              </a:rPr>
              <a:t>OBJECTIVES :</a:t>
            </a:r>
            <a:endParaRPr sz="3200" b="1" dirty="0">
              <a:solidFill>
                <a:srgbClr val="FF0000"/>
              </a:solidFill>
              <a:latin typeface="Times New Roman"/>
              <a:ea typeface="Times New Roman"/>
              <a:cs typeface="Times New Roman"/>
              <a:sym typeface="Times New Roman"/>
            </a:endParaRPr>
          </a:p>
        </p:txBody>
      </p:sp>
      <p:sp>
        <p:nvSpPr>
          <p:cNvPr id="111" name="Google Shape;111;p4"/>
          <p:cNvSpPr txBox="1"/>
          <p:nvPr/>
        </p:nvSpPr>
        <p:spPr>
          <a:xfrm>
            <a:off x="943947" y="1064644"/>
            <a:ext cx="10095722" cy="4862829"/>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endParaRPr sz="2000" dirty="0">
              <a:solidFill>
                <a:schemeClr val="dk1"/>
              </a:solidFill>
              <a:latin typeface="Arial Narrow" panose="020B0606020202030204" pitchFamily="34" charset="0"/>
              <a:ea typeface="Times New Roman"/>
              <a:cs typeface="Times New Roman"/>
              <a:sym typeface="Times New Roman"/>
            </a:endParaRPr>
          </a:p>
          <a:p>
            <a:pPr marL="285750" indent="-285750" algn="just">
              <a:buFont typeface="Wingdings" panose="05000000000000000000" pitchFamily="2" charset="2"/>
              <a:buChar char="Ø"/>
            </a:pPr>
            <a:r>
              <a:rPr lang="en-US" sz="2000" b="1" dirty="0">
                <a:latin typeface="Arial Narrow" panose="020B0606020202030204" pitchFamily="34" charset="0"/>
              </a:rPr>
              <a:t>Obstacle Detection: </a:t>
            </a:r>
            <a:r>
              <a:rPr lang="en-US" sz="2000" dirty="0">
                <a:latin typeface="Arial Narrow" panose="020B0606020202030204" pitchFamily="34" charset="0"/>
              </a:rPr>
              <a:t>Ultrasonic sensors continuously monitor the surroundings to detect obstacles in real time, ensuring safer navigation for visually impaired users.</a:t>
            </a:r>
          </a:p>
          <a:p>
            <a:pPr marL="285750" indent="-285750" algn="just">
              <a:buFont typeface="Wingdings" panose="05000000000000000000" pitchFamily="2" charset="2"/>
              <a:buChar char="Ø"/>
            </a:pPr>
            <a:endParaRPr lang="en-US" sz="2000" dirty="0">
              <a:latin typeface="Arial Narrow" panose="020B0606020202030204" pitchFamily="34" charset="0"/>
            </a:endParaRPr>
          </a:p>
          <a:p>
            <a:pPr marL="285750" indent="-285750" algn="just">
              <a:buFont typeface="Wingdings" panose="05000000000000000000" pitchFamily="2" charset="2"/>
              <a:buChar char="Ø"/>
            </a:pPr>
            <a:r>
              <a:rPr lang="en-US" sz="2000" b="1" dirty="0">
                <a:latin typeface="Arial Narrow" panose="020B0606020202030204" pitchFamily="34" charset="0"/>
              </a:rPr>
              <a:t>Real-Time Feedback:</a:t>
            </a:r>
            <a:r>
              <a:rPr lang="en-US" sz="2000" dirty="0">
                <a:latin typeface="Arial Narrow" panose="020B0606020202030204" pitchFamily="34" charset="0"/>
              </a:rPr>
              <a:t> The system provides instant alerts through vibration motors or buzzers, allowing users to respond quickly to nearby hazards.</a:t>
            </a:r>
          </a:p>
          <a:p>
            <a:pPr marL="285750" indent="-285750" algn="just">
              <a:buFont typeface="Wingdings" panose="05000000000000000000" pitchFamily="2" charset="2"/>
              <a:buChar char="Ø"/>
            </a:pPr>
            <a:endParaRPr lang="en-US" sz="2000" dirty="0">
              <a:latin typeface="Arial Narrow" panose="020B0606020202030204" pitchFamily="34" charset="0"/>
            </a:endParaRPr>
          </a:p>
          <a:p>
            <a:pPr marL="285750" indent="-285750" algn="just">
              <a:buFont typeface="Wingdings" panose="05000000000000000000" pitchFamily="2" charset="2"/>
              <a:buChar char="Ø"/>
            </a:pPr>
            <a:r>
              <a:rPr lang="en-US" sz="2000" b="1" dirty="0">
                <a:latin typeface="Arial Narrow" panose="020B0606020202030204" pitchFamily="34" charset="0"/>
              </a:rPr>
              <a:t>Smart Navigation Assistance:</a:t>
            </a:r>
            <a:r>
              <a:rPr lang="en-US" sz="2000" dirty="0">
                <a:latin typeface="Arial Narrow" panose="020B0606020202030204" pitchFamily="34" charset="0"/>
              </a:rPr>
              <a:t> The device enhances spatial awareness by identifying object distance and direction, helping users move confidently and independently.</a:t>
            </a:r>
          </a:p>
          <a:p>
            <a:pPr marL="285750" indent="-285750" algn="just">
              <a:buFont typeface="Wingdings" panose="05000000000000000000" pitchFamily="2" charset="2"/>
              <a:buChar char="Ø"/>
            </a:pPr>
            <a:endParaRPr lang="en-US" sz="2000" dirty="0">
              <a:latin typeface="Arial Narrow" panose="020B0606020202030204" pitchFamily="34" charset="0"/>
            </a:endParaRPr>
          </a:p>
          <a:p>
            <a:pPr marL="285750" indent="-285750" algn="just">
              <a:buFont typeface="Wingdings" panose="05000000000000000000" pitchFamily="2" charset="2"/>
              <a:buChar char="Ø"/>
            </a:pPr>
            <a:r>
              <a:rPr lang="en-US" sz="2000" b="1" dirty="0">
                <a:latin typeface="Arial Narrow" panose="020B0606020202030204" pitchFamily="34" charset="0"/>
              </a:rPr>
              <a:t>User-Friendly Design:</a:t>
            </a:r>
            <a:r>
              <a:rPr lang="en-US" sz="2000" i="1" dirty="0">
                <a:latin typeface="Arial Narrow" panose="020B0606020202030204" pitchFamily="34" charset="0"/>
              </a:rPr>
              <a:t> </a:t>
            </a:r>
            <a:r>
              <a:rPr lang="en-US" sz="2000" dirty="0">
                <a:latin typeface="Arial Narrow" panose="020B0606020202030204" pitchFamily="34" charset="0"/>
              </a:rPr>
              <a:t>The stick is designed to be lightweight, portable, and easy to operate, ensuring comfort and accessibility for daily use.</a:t>
            </a:r>
          </a:p>
          <a:p>
            <a:pPr marL="285750" indent="-285750" algn="just">
              <a:buFont typeface="Wingdings" panose="05000000000000000000" pitchFamily="2" charset="2"/>
              <a:buChar char="Ø"/>
            </a:pPr>
            <a:endParaRPr lang="en-US" sz="2000" dirty="0">
              <a:latin typeface="Arial Narrow" panose="020B0606020202030204" pitchFamily="34" charset="0"/>
            </a:endParaRPr>
          </a:p>
          <a:p>
            <a:pPr marL="285750" indent="-285750" algn="just">
              <a:buFont typeface="Wingdings" panose="05000000000000000000" pitchFamily="2" charset="2"/>
              <a:buChar char="Ø"/>
            </a:pPr>
            <a:r>
              <a:rPr lang="en-US" sz="2000" b="1" dirty="0">
                <a:latin typeface="Arial Narrow" panose="020B0606020202030204" pitchFamily="34" charset="0"/>
              </a:rPr>
              <a:t>Cost-Effective Solution:</a:t>
            </a:r>
            <a:r>
              <a:rPr lang="en-US" sz="2000" i="1" dirty="0">
                <a:latin typeface="Arial Narrow" panose="020B0606020202030204" pitchFamily="34" charset="0"/>
              </a:rPr>
              <a:t> </a:t>
            </a:r>
            <a:r>
              <a:rPr lang="en-US" sz="2000" dirty="0">
                <a:latin typeface="Arial Narrow" panose="020B0606020202030204" pitchFamily="34" charset="0"/>
              </a:rPr>
              <a:t>The project focuses on using affordable components to develop an efficient assistive device that is accessible to a wider population.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sp>
        <p:nvSpPr>
          <p:cNvPr id="2" name="Rectangle 1"/>
          <p:cNvSpPr/>
          <p:nvPr/>
        </p:nvSpPr>
        <p:spPr>
          <a:xfrm>
            <a:off x="3048000" y="295870"/>
            <a:ext cx="6248400" cy="584775"/>
          </a:xfrm>
          <a:prstGeom prst="rect">
            <a:avLst/>
          </a:prstGeom>
        </p:spPr>
        <p:txBody>
          <a:bodyPr wrap="square">
            <a:spAutoFit/>
          </a:bodyPr>
          <a:lstStyle/>
          <a:p>
            <a:pPr algn="just"/>
            <a:r>
              <a:rPr lang="en-US" sz="3200" b="1" dirty="0">
                <a:solidFill>
                  <a:srgbClr val="FF0000"/>
                </a:solidFill>
                <a:latin typeface="Times New Roman" panose="02020603050405020304" pitchFamily="18" charset="0"/>
                <a:cs typeface="Times New Roman" panose="02020603050405020304" pitchFamily="18" charset="0"/>
              </a:rPr>
              <a:t>LITERATURE SURVEY:</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1066800" y="1219200"/>
            <a:ext cx="10439400" cy="2031325"/>
          </a:xfrm>
          <a:prstGeom prst="rect">
            <a:avLst/>
          </a:prstGeom>
        </p:spPr>
        <p:txBody>
          <a:bodyPr wrap="square">
            <a:spAutoFit/>
          </a:bodyPr>
          <a:lstStyle/>
          <a:p>
            <a:pPr algn="just"/>
            <a:r>
              <a:rPr lang="en-US" sz="1800" b="1" i="1" dirty="0">
                <a:latin typeface="Arial Narrow" panose="020B0606020202030204" pitchFamily="34" charset="0"/>
              </a:rPr>
              <a:t>Title:</a:t>
            </a:r>
            <a:r>
              <a:rPr lang="en-US" sz="1800" b="1" dirty="0">
                <a:latin typeface="Arial Narrow" panose="020B0606020202030204" pitchFamily="34" charset="0"/>
              </a:rPr>
              <a:t>  </a:t>
            </a:r>
            <a:r>
              <a:rPr lang="en-US" sz="1800" dirty="0">
                <a:latin typeface="Arial Narrow" panose="020B0606020202030204" pitchFamily="34" charset="0"/>
                <a:ea typeface="Batang" panose="02030600000101010101" pitchFamily="18" charset="-127"/>
              </a:rPr>
              <a:t>Arduino based Smart Blind Stick for People with Vision Loss.</a:t>
            </a:r>
          </a:p>
          <a:p>
            <a:pPr algn="just"/>
            <a:endParaRPr lang="en-US" sz="1800" dirty="0">
              <a:latin typeface="Arial Narrow" panose="020B0606020202030204" pitchFamily="34" charset="0"/>
              <a:ea typeface="Batang" panose="02030600000101010101" pitchFamily="18" charset="-127"/>
            </a:endParaRPr>
          </a:p>
          <a:p>
            <a:pPr algn="just"/>
            <a:r>
              <a:rPr lang="en-US" sz="1800" b="1" i="1" dirty="0">
                <a:latin typeface="Arial Narrow" panose="020B0606020202030204" pitchFamily="34" charset="0"/>
              </a:rPr>
              <a:t>Author</a:t>
            </a:r>
            <a:r>
              <a:rPr lang="en-US" sz="1800" i="1" dirty="0">
                <a:latin typeface="Arial Narrow" panose="020B0606020202030204" pitchFamily="34" charset="0"/>
              </a:rPr>
              <a:t>:  </a:t>
            </a:r>
            <a:r>
              <a:rPr lang="en-US" sz="1800" dirty="0">
                <a:latin typeface="Arial Narrow" panose="020B0606020202030204" pitchFamily="34" charset="0"/>
                <a:ea typeface="Batang" panose="02030600000101010101" pitchFamily="18" charset="-127"/>
              </a:rPr>
              <a:t>P. Rajesh, R. Sairam, M. Dinesh Kumar, P. Kasi Eswar, Y. Keerthi.</a:t>
            </a:r>
          </a:p>
          <a:p>
            <a:pPr algn="just"/>
            <a:endParaRPr lang="en-US" sz="1800" b="1" i="1" dirty="0">
              <a:latin typeface="Arial Narrow" panose="020B0606020202030204" pitchFamily="34" charset="0"/>
            </a:endParaRPr>
          </a:p>
          <a:p>
            <a:pPr algn="just"/>
            <a:r>
              <a:rPr lang="en-US" sz="1800" b="1" i="1" dirty="0">
                <a:latin typeface="Arial Narrow" panose="020B0606020202030204" pitchFamily="34" charset="0"/>
              </a:rPr>
              <a:t>Journal</a:t>
            </a:r>
            <a:r>
              <a:rPr lang="en-US" sz="1800" i="1" dirty="0">
                <a:latin typeface="Arial Narrow" panose="020B0606020202030204" pitchFamily="34" charset="0"/>
              </a:rPr>
              <a:t>:</a:t>
            </a:r>
            <a:r>
              <a:rPr lang="en-US" sz="1800" i="1" dirty="0">
                <a:solidFill>
                  <a:srgbClr val="333333"/>
                </a:solidFill>
                <a:latin typeface="Arial Narrow" panose="020B0606020202030204" pitchFamily="34" charset="0"/>
              </a:rPr>
              <a:t> </a:t>
            </a:r>
            <a:r>
              <a:rPr lang="en-US" sz="1800" dirty="0">
                <a:latin typeface="Arial Narrow" panose="020B0606020202030204" pitchFamily="34" charset="0"/>
                <a:ea typeface="Batang" panose="02030600000101010101" pitchFamily="18" charset="-127"/>
              </a:rPr>
              <a:t>2023 7th International Conference on Computing Methodologies and Communication (ICCMC).</a:t>
            </a:r>
          </a:p>
          <a:p>
            <a:pPr algn="just"/>
            <a:endParaRPr lang="en-US" sz="1800" b="1" dirty="0">
              <a:solidFill>
                <a:srgbClr val="333333"/>
              </a:solidFill>
              <a:latin typeface="Arial Narrow" panose="020B0606020202030204" pitchFamily="34" charset="0"/>
              <a:ea typeface="Batang" panose="02030600000101010101" pitchFamily="18" charset="-127"/>
            </a:endParaRPr>
          </a:p>
          <a:p>
            <a:pPr algn="just"/>
            <a:r>
              <a:rPr lang="en-US" sz="1800" b="1" i="1" dirty="0">
                <a:latin typeface="Arial Narrow" panose="020B0606020202030204" pitchFamily="34" charset="0"/>
              </a:rPr>
              <a:t>Year</a:t>
            </a:r>
            <a:r>
              <a:rPr lang="en-US" sz="1800" i="1" dirty="0">
                <a:latin typeface="Arial Narrow" panose="020B0606020202030204" pitchFamily="34" charset="0"/>
              </a:rPr>
              <a:t>: </a:t>
            </a:r>
            <a:r>
              <a:rPr lang="en-US" sz="1800" b="1" dirty="0">
                <a:latin typeface="Arial Narrow" panose="020B0606020202030204" pitchFamily="34" charset="0"/>
                <a:ea typeface="Batang" panose="02030600000101010101" pitchFamily="18" charset="-127"/>
              </a:rPr>
              <a:t>2023</a:t>
            </a:r>
          </a:p>
        </p:txBody>
      </p:sp>
      <p:sp>
        <p:nvSpPr>
          <p:cNvPr id="4" name="TextBox 3">
            <a:extLst>
              <a:ext uri="{FF2B5EF4-FFF2-40B4-BE49-F238E27FC236}">
                <a16:creationId xmlns:a16="http://schemas.microsoft.com/office/drawing/2014/main" id="{1622A2DE-FC68-CA28-382B-0580C1A55A19}"/>
              </a:ext>
            </a:extLst>
          </p:cNvPr>
          <p:cNvSpPr txBox="1"/>
          <p:nvPr/>
        </p:nvSpPr>
        <p:spPr>
          <a:xfrm>
            <a:off x="1066800" y="3527524"/>
            <a:ext cx="10439400" cy="3416320"/>
          </a:xfrm>
          <a:prstGeom prst="rect">
            <a:avLst/>
          </a:prstGeom>
          <a:noFill/>
        </p:spPr>
        <p:txBody>
          <a:bodyPr wrap="square" rtlCol="0">
            <a:spAutoFit/>
          </a:bodyPr>
          <a:lstStyle/>
          <a:p>
            <a:pPr marL="285750" indent="-285750" algn="just">
              <a:buFont typeface="Wingdings" panose="05000000000000000000" pitchFamily="2" charset="2"/>
              <a:buChar char="q"/>
            </a:pPr>
            <a:r>
              <a:rPr lang="en-US" sz="1800" b="1" i="1" dirty="0">
                <a:latin typeface="Arial Narrow" panose="020B0606020202030204" pitchFamily="34" charset="0"/>
              </a:rPr>
              <a:t>Core Processing Unit:</a:t>
            </a:r>
            <a:r>
              <a:rPr lang="en-US" sz="1800" i="1" dirty="0">
                <a:latin typeface="Arial Narrow" panose="020B0606020202030204" pitchFamily="34" charset="0"/>
              </a:rPr>
              <a:t> </a:t>
            </a:r>
            <a:r>
              <a:rPr lang="en-US" sz="1800" dirty="0">
                <a:latin typeface="Arial Narrow" panose="020B0606020202030204" pitchFamily="34" charset="0"/>
              </a:rPr>
              <a:t>The Arduino microcontroller serves as the brain of the system, processing input signals from sensors and controlling output devices efficiently.</a:t>
            </a:r>
          </a:p>
          <a:p>
            <a:pPr marL="285750" indent="-285750" algn="just">
              <a:buFont typeface="Wingdings" panose="05000000000000000000" pitchFamily="2" charset="2"/>
              <a:buChar char="q"/>
            </a:pPr>
            <a:r>
              <a:rPr lang="en-US" sz="1800" b="1" i="1" dirty="0">
                <a:latin typeface="Arial Narrow" panose="020B0606020202030204" pitchFamily="34" charset="0"/>
              </a:rPr>
              <a:t>Obstacle Detection System:</a:t>
            </a:r>
            <a:r>
              <a:rPr lang="en-US" sz="1800" i="1" dirty="0">
                <a:latin typeface="Arial Narrow" panose="020B0606020202030204" pitchFamily="34" charset="0"/>
              </a:rPr>
              <a:t> </a:t>
            </a:r>
            <a:r>
              <a:rPr lang="en-US" sz="1800" dirty="0">
                <a:latin typeface="Arial Narrow" panose="020B0606020202030204" pitchFamily="34" charset="0"/>
              </a:rPr>
              <a:t>Ultrasonic sensors are used to measure the distance of obstacles using echo signals, enabling early detection.</a:t>
            </a:r>
          </a:p>
          <a:p>
            <a:pPr marL="285750" indent="-285750" algn="just">
              <a:buFont typeface="Wingdings" panose="05000000000000000000" pitchFamily="2" charset="2"/>
              <a:buChar char="q"/>
            </a:pPr>
            <a:r>
              <a:rPr lang="en-US" sz="1800" b="1" i="1" dirty="0">
                <a:latin typeface="Arial Narrow" panose="020B0606020202030204" pitchFamily="34" charset="0"/>
              </a:rPr>
              <a:t>Alert Mechanism:</a:t>
            </a:r>
            <a:r>
              <a:rPr lang="en-US" sz="1800" i="1" dirty="0">
                <a:latin typeface="Arial Narrow" panose="020B0606020202030204" pitchFamily="34" charset="0"/>
              </a:rPr>
              <a:t> </a:t>
            </a:r>
            <a:r>
              <a:rPr lang="en-US" sz="1800" dirty="0">
                <a:latin typeface="Arial Narrow" panose="020B0606020202030204" pitchFamily="34" charset="0"/>
              </a:rPr>
              <a:t>A buzzer or vibration motor provides immediate feedback to the user upon detecting obstacles in the path.</a:t>
            </a:r>
          </a:p>
          <a:p>
            <a:pPr marL="285750" indent="-285750" algn="just">
              <a:buFont typeface="Wingdings" panose="05000000000000000000" pitchFamily="2" charset="2"/>
              <a:buChar char="q"/>
            </a:pPr>
            <a:r>
              <a:rPr lang="en-US" sz="1800" b="1" i="1" dirty="0">
                <a:latin typeface="Arial Narrow" panose="020B0606020202030204" pitchFamily="34" charset="0"/>
              </a:rPr>
              <a:t>Power Management:</a:t>
            </a:r>
            <a:r>
              <a:rPr lang="en-US" sz="1800" i="1" dirty="0">
                <a:latin typeface="Arial Narrow" panose="020B0606020202030204" pitchFamily="34" charset="0"/>
              </a:rPr>
              <a:t> </a:t>
            </a:r>
            <a:r>
              <a:rPr lang="en-US" sz="1800" dirty="0">
                <a:latin typeface="Arial Narrow" panose="020B0606020202030204" pitchFamily="34" charset="0"/>
              </a:rPr>
              <a:t>A battery-powered system ensures portability and continuous operation of the device in real-time conditions.</a:t>
            </a:r>
          </a:p>
          <a:p>
            <a:pPr marL="285750" indent="-285750" algn="just">
              <a:buFont typeface="Wingdings" panose="05000000000000000000" pitchFamily="2" charset="2"/>
              <a:buChar char="q"/>
            </a:pPr>
            <a:r>
              <a:rPr lang="en-US" sz="1800" b="1" i="1" dirty="0">
                <a:latin typeface="Arial Narrow" panose="020B0606020202030204" pitchFamily="34" charset="0"/>
              </a:rPr>
              <a:t>User Interaction:</a:t>
            </a:r>
            <a:r>
              <a:rPr lang="en-US" sz="1800" i="1" dirty="0">
                <a:latin typeface="Arial Narrow" panose="020B0606020202030204" pitchFamily="34" charset="0"/>
              </a:rPr>
              <a:t> </a:t>
            </a:r>
            <a:r>
              <a:rPr lang="en-US" sz="1800" dirty="0">
                <a:latin typeface="Arial Narrow" panose="020B0606020202030204" pitchFamily="34" charset="0"/>
              </a:rPr>
              <a:t>Simple switches and controls make the device easy to operate without complexity.</a:t>
            </a:r>
          </a:p>
          <a:p>
            <a:pPr marL="285750" indent="-285750" algn="just">
              <a:buFont typeface="Wingdings" panose="05000000000000000000" pitchFamily="2" charset="2"/>
              <a:buChar char="q"/>
            </a:pPr>
            <a:r>
              <a:rPr lang="en-US" sz="1800" b="1" i="1" dirty="0">
                <a:latin typeface="Arial Narrow" panose="020B0606020202030204" pitchFamily="34" charset="0"/>
              </a:rPr>
              <a:t>System Operation:</a:t>
            </a:r>
            <a:r>
              <a:rPr lang="en-US" sz="1800" i="1" dirty="0">
                <a:latin typeface="Arial Narrow" panose="020B0606020202030204" pitchFamily="34" charset="0"/>
              </a:rPr>
              <a:t> </a:t>
            </a:r>
            <a:r>
              <a:rPr lang="en-US" sz="1800" dirty="0">
                <a:latin typeface="Arial Narrow" panose="020B0606020202030204" pitchFamily="34" charset="0"/>
              </a:rPr>
              <a:t>The sensor detects obstacles → data is processed by Arduino → alert is generated to guide the user safely.</a:t>
            </a:r>
          </a:p>
          <a:p>
            <a:pPr algn="just"/>
            <a:endParaRPr lang="en-IN" sz="1800" dirty="0">
              <a:latin typeface="Arial Narrow" panose="020B0606020202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
        <p:cNvGrpSpPr/>
        <p:nvPr/>
      </p:nvGrpSpPr>
      <p:grpSpPr>
        <a:xfrm>
          <a:off x="0" y="0"/>
          <a:ext cx="0" cy="0"/>
          <a:chOff x="0" y="0"/>
          <a:chExt cx="0" cy="0"/>
        </a:xfrm>
      </p:grpSpPr>
      <p:sp>
        <p:nvSpPr>
          <p:cNvPr id="2" name="Rectangle 1"/>
          <p:cNvSpPr/>
          <p:nvPr/>
        </p:nvSpPr>
        <p:spPr>
          <a:xfrm>
            <a:off x="569844" y="457200"/>
            <a:ext cx="10363200" cy="1754326"/>
          </a:xfrm>
          <a:prstGeom prst="rect">
            <a:avLst/>
          </a:prstGeom>
        </p:spPr>
        <p:txBody>
          <a:bodyPr wrap="square">
            <a:spAutoFit/>
          </a:bodyPr>
          <a:lstStyle/>
          <a:p>
            <a:pPr algn="just"/>
            <a:r>
              <a:rPr lang="en-US" sz="1800" b="1" i="1" dirty="0">
                <a:latin typeface="Arial Narrow" panose="020B0606020202030204" pitchFamily="34" charset="0"/>
              </a:rPr>
              <a:t>Title: </a:t>
            </a:r>
            <a:r>
              <a:rPr lang="en-US" sz="1800" dirty="0">
                <a:latin typeface="Arial Narrow" panose="020B0606020202030204" pitchFamily="34" charset="0"/>
                <a:ea typeface="Batang" panose="02030600000101010101" pitchFamily="18" charset="-127"/>
              </a:rPr>
              <a:t>A Remarkable Innovation Empowering the Visually Impaired: The Smart Blind Stick for Independent Navigation</a:t>
            </a:r>
          </a:p>
          <a:p>
            <a:pPr algn="just"/>
            <a:endParaRPr lang="en-US" sz="1800" b="1" dirty="0">
              <a:latin typeface="Arial Narrow" panose="020B0606020202030204" pitchFamily="34" charset="0"/>
              <a:ea typeface="Batang" panose="02030600000101010101" pitchFamily="18" charset="-127"/>
            </a:endParaRPr>
          </a:p>
          <a:p>
            <a:pPr algn="just"/>
            <a:r>
              <a:rPr lang="en-US" sz="1800" b="1" i="1" dirty="0">
                <a:latin typeface="Arial Narrow" panose="020B0606020202030204" pitchFamily="34" charset="0"/>
              </a:rPr>
              <a:t>Author:  </a:t>
            </a:r>
            <a:r>
              <a:rPr lang="en-IN" sz="1800" dirty="0">
                <a:latin typeface="Arial Narrow" panose="020B0606020202030204" pitchFamily="34" charset="0"/>
                <a:ea typeface="Batang" panose="02030600000101010101" pitchFamily="18" charset="-127"/>
              </a:rPr>
              <a:t>Lalitha Bhavani </a:t>
            </a:r>
            <a:r>
              <a:rPr lang="en-IN" sz="1800" dirty="0" err="1">
                <a:latin typeface="Arial Narrow" panose="020B0606020202030204" pitchFamily="34" charset="0"/>
                <a:ea typeface="Batang" panose="02030600000101010101" pitchFamily="18" charset="-127"/>
              </a:rPr>
              <a:t>Konkyana</a:t>
            </a:r>
            <a:r>
              <a:rPr lang="en-IN" sz="1800" dirty="0">
                <a:latin typeface="Arial Narrow" panose="020B0606020202030204" pitchFamily="34" charset="0"/>
                <a:ea typeface="Batang" panose="02030600000101010101" pitchFamily="18" charset="-127"/>
              </a:rPr>
              <a:t>, </a:t>
            </a:r>
            <a:r>
              <a:rPr lang="en-IN" sz="1800" dirty="0" err="1">
                <a:latin typeface="Arial Narrow" panose="020B0606020202030204" pitchFamily="34" charset="0"/>
                <a:ea typeface="Batang" panose="02030600000101010101" pitchFamily="18" charset="-127"/>
              </a:rPr>
              <a:t>P.Sirish</a:t>
            </a:r>
            <a:r>
              <a:rPr lang="en-IN" sz="1800" dirty="0">
                <a:latin typeface="Arial Narrow" panose="020B0606020202030204" pitchFamily="34" charset="0"/>
                <a:ea typeface="Batang" panose="02030600000101010101" pitchFamily="18" charset="-127"/>
              </a:rPr>
              <a:t> Kumar, </a:t>
            </a:r>
            <a:r>
              <a:rPr lang="en-IN" sz="1800" dirty="0" err="1">
                <a:latin typeface="Arial Narrow" panose="020B0606020202030204" pitchFamily="34" charset="0"/>
                <a:ea typeface="Batang" panose="02030600000101010101" pitchFamily="18" charset="-127"/>
              </a:rPr>
              <a:t>Nelapati</a:t>
            </a:r>
            <a:r>
              <a:rPr lang="en-IN" sz="1800" dirty="0">
                <a:latin typeface="Arial Narrow" panose="020B0606020202030204" pitchFamily="34" charset="0"/>
                <a:ea typeface="Batang" panose="02030600000101010101" pitchFamily="18" charset="-127"/>
              </a:rPr>
              <a:t> Ananda Rao</a:t>
            </a:r>
            <a:r>
              <a:rPr lang="en-IN" sz="1800" b="1" dirty="0">
                <a:latin typeface="Arial Narrow" panose="020B0606020202030204" pitchFamily="34" charset="0"/>
                <a:ea typeface="Batang" panose="02030600000101010101" pitchFamily="18" charset="-127"/>
              </a:rPr>
              <a:t>.</a:t>
            </a:r>
          </a:p>
          <a:p>
            <a:pPr algn="just"/>
            <a:endParaRPr lang="en-US" sz="1800" b="1" dirty="0">
              <a:latin typeface="Arial Narrow" panose="020B0606020202030204" pitchFamily="34" charset="0"/>
              <a:ea typeface="Batang" panose="02030600000101010101" pitchFamily="18" charset="-127"/>
            </a:endParaRPr>
          </a:p>
          <a:p>
            <a:pPr algn="just"/>
            <a:r>
              <a:rPr lang="en-US" sz="1800" b="1" i="1" dirty="0">
                <a:latin typeface="Arial Narrow" panose="020B0606020202030204" pitchFamily="34" charset="0"/>
              </a:rPr>
              <a:t>Journal: </a:t>
            </a:r>
            <a:r>
              <a:rPr lang="en-US" sz="1800" dirty="0">
                <a:latin typeface="Arial Narrow" panose="020B0606020202030204" pitchFamily="34" charset="0"/>
                <a:ea typeface="Batang" panose="02030600000101010101" pitchFamily="18" charset="-127"/>
              </a:rPr>
              <a:t>2024 2nd International Conference on Recent Trends in Microelectronics, Automation, Computing and Communications Systems (ICMACC</a:t>
            </a:r>
            <a:r>
              <a:rPr lang="en-US" sz="1800" b="1" dirty="0">
                <a:latin typeface="Arial Narrow" panose="020B0606020202030204" pitchFamily="34" charset="0"/>
                <a:ea typeface="Batang" panose="02030600000101010101" pitchFamily="18" charset="-127"/>
              </a:rPr>
              <a:t>).</a:t>
            </a:r>
          </a:p>
        </p:txBody>
      </p:sp>
      <p:sp>
        <p:nvSpPr>
          <p:cNvPr id="3" name="TextBox 2">
            <a:extLst>
              <a:ext uri="{FF2B5EF4-FFF2-40B4-BE49-F238E27FC236}">
                <a16:creationId xmlns:a16="http://schemas.microsoft.com/office/drawing/2014/main" id="{F0CDA7C8-8485-F54F-BDC9-DC3365773CA8}"/>
              </a:ext>
            </a:extLst>
          </p:cNvPr>
          <p:cNvSpPr txBox="1"/>
          <p:nvPr/>
        </p:nvSpPr>
        <p:spPr>
          <a:xfrm>
            <a:off x="569844" y="2362200"/>
            <a:ext cx="10668000" cy="4247317"/>
          </a:xfrm>
          <a:prstGeom prst="rect">
            <a:avLst/>
          </a:prstGeom>
          <a:noFill/>
        </p:spPr>
        <p:txBody>
          <a:bodyPr wrap="square" rtlCol="0">
            <a:spAutoFit/>
          </a:bodyPr>
          <a:lstStyle/>
          <a:p>
            <a:pPr marL="285750" indent="-285750" algn="just">
              <a:buFont typeface="Wingdings" panose="05000000000000000000" pitchFamily="2" charset="2"/>
              <a:buChar char="Ø"/>
            </a:pPr>
            <a:r>
              <a:rPr lang="en-US" sz="1800" b="1" i="1" dirty="0">
                <a:latin typeface="Arial Narrow" panose="020B0606020202030204" pitchFamily="34" charset="0"/>
              </a:rPr>
              <a:t>Advanced Sensor Integration for Obstacle Detection</a:t>
            </a:r>
            <a:r>
              <a:rPr lang="en-US" sz="1800" i="1" dirty="0">
                <a:latin typeface="Arial Narrow" panose="020B0606020202030204" pitchFamily="34" charset="0"/>
              </a:rPr>
              <a:t> </a:t>
            </a:r>
            <a:r>
              <a:rPr lang="en-US" sz="1800" dirty="0">
                <a:latin typeface="Arial Narrow" panose="020B0606020202030204" pitchFamily="34" charset="0"/>
              </a:rPr>
              <a:t>The HC-SR04 Ultrasonic Sensor detects obstacles within 2cm to 400cm with 3mm accuracy. It emits 40 kHz pulses and calculates distance based on signal return time. This ensures early obstacle warnings, helping users avoid collisions effectively.</a:t>
            </a:r>
          </a:p>
          <a:p>
            <a:pPr algn="just"/>
            <a:endParaRPr lang="en-US" sz="1800" dirty="0">
              <a:latin typeface="Arial Narrow" panose="020B0606020202030204" pitchFamily="34" charset="0"/>
            </a:endParaRPr>
          </a:p>
          <a:p>
            <a:pPr marL="285750" indent="-285750" algn="just">
              <a:buFont typeface="Wingdings" panose="05000000000000000000" pitchFamily="2" charset="2"/>
              <a:buChar char="Ø"/>
            </a:pPr>
            <a:r>
              <a:rPr lang="en-US" sz="1800" b="1" i="1" dirty="0">
                <a:latin typeface="Arial Narrow" panose="020B0606020202030204" pitchFamily="34" charset="0"/>
              </a:rPr>
              <a:t>GPS and GSM for Real-Time Location Tracking</a:t>
            </a:r>
            <a:r>
              <a:rPr lang="en-US" sz="1800" i="1" dirty="0">
                <a:latin typeface="Arial Narrow" panose="020B0606020202030204" pitchFamily="34" charset="0"/>
              </a:rPr>
              <a:t> </a:t>
            </a:r>
            <a:r>
              <a:rPr lang="en-US" sz="1800" dirty="0">
                <a:latin typeface="Arial Narrow" panose="020B0606020202030204" pitchFamily="34" charset="0"/>
              </a:rPr>
              <a:t>GPS and GSM modules provide accurate, real-time positioning for the user. The system can transmit the user's location to emergency contacts when needed. This allows confident navigation in unfamiliar environments with enhanced safety.</a:t>
            </a:r>
          </a:p>
          <a:p>
            <a:pPr algn="just"/>
            <a:endParaRPr lang="en-US" sz="1800" dirty="0">
              <a:latin typeface="Arial Narrow" panose="020B0606020202030204" pitchFamily="34" charset="0"/>
            </a:endParaRPr>
          </a:p>
          <a:p>
            <a:pPr marL="285750" indent="-285750" algn="just">
              <a:buFont typeface="Wingdings" panose="05000000000000000000" pitchFamily="2" charset="2"/>
              <a:buChar char="Ø"/>
            </a:pPr>
            <a:r>
              <a:rPr lang="en-US" sz="1800" b="1" i="1" dirty="0">
                <a:latin typeface="Arial Narrow" panose="020B0606020202030204" pitchFamily="34" charset="0"/>
              </a:rPr>
              <a:t>Arduino Nano as the Central Processing Unit</a:t>
            </a:r>
            <a:r>
              <a:rPr lang="en-US" sz="1800" i="1" dirty="0">
                <a:latin typeface="Arial Narrow" panose="020B0606020202030204" pitchFamily="34" charset="0"/>
              </a:rPr>
              <a:t> </a:t>
            </a:r>
            <a:r>
              <a:rPr lang="en-US" sz="1800" dirty="0">
                <a:latin typeface="Arial Narrow" panose="020B0606020202030204" pitchFamily="34" charset="0"/>
              </a:rPr>
              <a:t>The Arduino Nano processes data from all sensors in real time and triggers buzzer alerts when obstacles are detected. Its compact size allows seamless integration of multiple components into one lightweight device. It serves as the core decision-making unit of the entire system.</a:t>
            </a:r>
          </a:p>
          <a:p>
            <a:pPr algn="just"/>
            <a:endParaRPr lang="en-US" sz="1800" dirty="0">
              <a:latin typeface="Arial Narrow" panose="020B0606020202030204" pitchFamily="34" charset="0"/>
            </a:endParaRPr>
          </a:p>
          <a:p>
            <a:pPr marL="285750" indent="-285750" algn="just">
              <a:buFont typeface="Wingdings" panose="05000000000000000000" pitchFamily="2" charset="2"/>
              <a:buChar char="Ø"/>
            </a:pPr>
            <a:r>
              <a:rPr lang="en-US" sz="1800" b="1" i="1" dirty="0">
                <a:latin typeface="Arial Narrow" panose="020B0606020202030204" pitchFamily="34" charset="0"/>
              </a:rPr>
              <a:t>Water Sensor and Remote Localization Feature</a:t>
            </a:r>
            <a:r>
              <a:rPr lang="en-US" sz="1800" i="1" dirty="0">
                <a:latin typeface="Arial Narrow" panose="020B0606020202030204" pitchFamily="34" charset="0"/>
              </a:rPr>
              <a:t> </a:t>
            </a:r>
            <a:r>
              <a:rPr lang="en-US" sz="1800" dirty="0">
                <a:latin typeface="Arial Narrow" panose="020B0606020202030204" pitchFamily="34" charset="0"/>
              </a:rPr>
              <a:t>A water sensor detects wet surfaces and alerts the user through the buzzer to prevent falls. A remote-control feature helps users locate the stick via auditory signals. Together, these features make the stick a comprehensive and user-friendly assistive tool.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
        <p:cNvGrpSpPr/>
        <p:nvPr/>
      </p:nvGrpSpPr>
      <p:grpSpPr>
        <a:xfrm>
          <a:off x="0" y="0"/>
          <a:ext cx="0" cy="0"/>
          <a:chOff x="0" y="0"/>
          <a:chExt cx="0" cy="0"/>
        </a:xfrm>
      </p:grpSpPr>
      <p:sp>
        <p:nvSpPr>
          <p:cNvPr id="116" name="Google Shape;116;p5"/>
          <p:cNvSpPr txBox="1"/>
          <p:nvPr/>
        </p:nvSpPr>
        <p:spPr>
          <a:xfrm>
            <a:off x="3310327" y="228600"/>
            <a:ext cx="5571346"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FF0000"/>
                </a:solidFill>
                <a:latin typeface="Times New Roman" panose="02020603050405020304" pitchFamily="18" charset="0"/>
                <a:ea typeface="Times New Roman"/>
                <a:cs typeface="Times New Roman" panose="02020603050405020304" pitchFamily="18" charset="0"/>
                <a:sym typeface="Times New Roman"/>
              </a:rPr>
              <a:t>SYSTEM REQUIREMENTS</a:t>
            </a:r>
            <a:endParaRPr sz="3200" b="1"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TextBox 1">
            <a:extLst>
              <a:ext uri="{FF2B5EF4-FFF2-40B4-BE49-F238E27FC236}">
                <a16:creationId xmlns:a16="http://schemas.microsoft.com/office/drawing/2014/main" id="{B8CC62C6-B268-D574-FBB6-1FD78342C6C6}"/>
              </a:ext>
            </a:extLst>
          </p:cNvPr>
          <p:cNvSpPr txBox="1"/>
          <p:nvPr/>
        </p:nvSpPr>
        <p:spPr>
          <a:xfrm>
            <a:off x="838200" y="1447800"/>
            <a:ext cx="5943601" cy="4401205"/>
          </a:xfrm>
          <a:prstGeom prst="rect">
            <a:avLst/>
          </a:prstGeom>
          <a:noFill/>
        </p:spPr>
        <p:txBody>
          <a:bodyPr wrap="square" rtlCol="0">
            <a:spAutoFit/>
          </a:bodyPr>
          <a:lstStyle/>
          <a:p>
            <a:pPr algn="just"/>
            <a:r>
              <a:rPr lang="en-IN" sz="2000" b="1" dirty="0">
                <a:latin typeface="Arial Narrow" panose="020B0606020202030204" pitchFamily="34" charset="0"/>
                <a:ea typeface="Batang" panose="02030600000101010101" pitchFamily="18" charset="-127"/>
              </a:rPr>
              <a:t>1. </a:t>
            </a:r>
            <a:r>
              <a:rPr lang="en-IN" sz="2000" b="1" i="1" dirty="0">
                <a:latin typeface="Arial Narrow" panose="020B0606020202030204" pitchFamily="34" charset="0"/>
                <a:ea typeface="Batang" panose="02030600000101010101" pitchFamily="18" charset="-127"/>
              </a:rPr>
              <a:t>Development Environment</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Arduino IDE (version 1.8 or above)</a:t>
            </a:r>
          </a:p>
          <a:p>
            <a:pPr marL="285750" indent="-285750" algn="just">
              <a:buFont typeface="Arial" panose="020B0604020202020204" pitchFamily="34" charset="0"/>
              <a:buChar char="•"/>
            </a:pPr>
            <a:endParaRPr lang="en-IN" sz="2000" b="1" dirty="0">
              <a:latin typeface="Arial Narrow" panose="020B0606020202030204" pitchFamily="34" charset="0"/>
              <a:ea typeface="Batang" panose="02030600000101010101" pitchFamily="18" charset="-127"/>
            </a:endParaRPr>
          </a:p>
          <a:p>
            <a:pPr algn="just"/>
            <a:r>
              <a:rPr lang="en-IN" sz="2000" b="1" dirty="0">
                <a:latin typeface="Arial Narrow" panose="020B0606020202030204" pitchFamily="34" charset="0"/>
                <a:ea typeface="Batang" panose="02030600000101010101" pitchFamily="18" charset="-127"/>
              </a:rPr>
              <a:t>2. </a:t>
            </a:r>
            <a:r>
              <a:rPr lang="en-IN" sz="2000" b="1" i="1" dirty="0">
                <a:latin typeface="Arial Narrow" panose="020B0606020202030204" pitchFamily="34" charset="0"/>
                <a:ea typeface="Batang" panose="02030600000101010101" pitchFamily="18" charset="-127"/>
              </a:rPr>
              <a:t>Programming Language</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Embedded C / C++ for Arduino</a:t>
            </a:r>
          </a:p>
          <a:p>
            <a:pPr algn="just"/>
            <a:endParaRPr lang="en-IN" sz="2000" dirty="0">
              <a:latin typeface="Arial Narrow" panose="020B0606020202030204" pitchFamily="34" charset="0"/>
              <a:ea typeface="Batang" panose="02030600000101010101" pitchFamily="18" charset="-127"/>
            </a:endParaRPr>
          </a:p>
          <a:p>
            <a:pPr algn="just"/>
            <a:r>
              <a:rPr lang="en-IN" sz="2000" b="1" dirty="0">
                <a:latin typeface="Arial Narrow" panose="020B0606020202030204" pitchFamily="34" charset="0"/>
                <a:ea typeface="Batang" panose="02030600000101010101" pitchFamily="18" charset="-127"/>
              </a:rPr>
              <a:t>3. </a:t>
            </a:r>
            <a:r>
              <a:rPr lang="en-IN" sz="2000" b="1" i="1" dirty="0">
                <a:latin typeface="Arial Narrow" panose="020B0606020202030204" pitchFamily="34" charset="0"/>
                <a:ea typeface="Batang" panose="02030600000101010101" pitchFamily="18" charset="-127"/>
              </a:rPr>
              <a:t>Libraries Required</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err="1">
                <a:latin typeface="Arial Narrow" panose="020B0606020202030204" pitchFamily="34" charset="0"/>
                <a:ea typeface="Batang" panose="02030600000101010101" pitchFamily="18" charset="-127"/>
              </a:rPr>
              <a:t>NewSoftSerial</a:t>
            </a:r>
            <a:r>
              <a:rPr lang="en-IN" sz="2000" dirty="0">
                <a:latin typeface="Arial Narrow" panose="020B0606020202030204" pitchFamily="34" charset="0"/>
                <a:ea typeface="Batang" panose="02030600000101010101" pitchFamily="18" charset="-127"/>
              </a:rPr>
              <a:t> / </a:t>
            </a:r>
            <a:r>
              <a:rPr lang="en-IN" sz="2000" dirty="0" err="1">
                <a:latin typeface="Arial Narrow" panose="020B0606020202030204" pitchFamily="34" charset="0"/>
                <a:ea typeface="Batang" panose="02030600000101010101" pitchFamily="18" charset="-127"/>
              </a:rPr>
              <a:t>SoftwareSerial</a:t>
            </a:r>
            <a:r>
              <a:rPr lang="en-IN" sz="2000" dirty="0">
                <a:latin typeface="Arial Narrow" panose="020B0606020202030204" pitchFamily="34" charset="0"/>
                <a:ea typeface="Batang" panose="02030600000101010101" pitchFamily="18" charset="-127"/>
              </a:rPr>
              <a:t> Library</a:t>
            </a:r>
          </a:p>
          <a:p>
            <a:pPr marL="285750" indent="-285750" algn="just">
              <a:buFont typeface="Arial" panose="020B0604020202020204" pitchFamily="34" charset="0"/>
              <a:buChar char="•"/>
            </a:pPr>
            <a:r>
              <a:rPr lang="en-IN" sz="2000" dirty="0" err="1">
                <a:latin typeface="Arial Narrow" panose="020B0606020202030204" pitchFamily="34" charset="0"/>
                <a:ea typeface="Batang" panose="02030600000101010101" pitchFamily="18" charset="-127"/>
              </a:rPr>
              <a:t>TinyGPS</a:t>
            </a:r>
            <a:r>
              <a:rPr lang="en-IN" sz="2000" dirty="0">
                <a:latin typeface="Arial Narrow" panose="020B0606020202030204" pitchFamily="34" charset="0"/>
                <a:ea typeface="Batang" panose="02030600000101010101" pitchFamily="18" charset="-127"/>
              </a:rPr>
              <a:t>++ Library (for GPS parsing)</a:t>
            </a:r>
          </a:p>
          <a:p>
            <a:pPr algn="just"/>
            <a:endParaRPr lang="en-IN" sz="2000" b="1" dirty="0">
              <a:latin typeface="Arial Narrow" panose="020B0606020202030204" pitchFamily="34" charset="0"/>
              <a:ea typeface="Batang" panose="02030600000101010101" pitchFamily="18" charset="-127"/>
            </a:endParaRPr>
          </a:p>
          <a:p>
            <a:pPr algn="just"/>
            <a:r>
              <a:rPr lang="en-IN" sz="2000" b="1" dirty="0">
                <a:latin typeface="Arial Narrow" panose="020B0606020202030204" pitchFamily="34" charset="0"/>
                <a:ea typeface="Batang" panose="02030600000101010101" pitchFamily="18" charset="-127"/>
              </a:rPr>
              <a:t>4. </a:t>
            </a:r>
            <a:r>
              <a:rPr lang="en-IN" sz="2000" b="1" i="1" dirty="0">
                <a:latin typeface="Arial Narrow" panose="020B0606020202030204" pitchFamily="34" charset="0"/>
                <a:ea typeface="Batang" panose="02030600000101010101" pitchFamily="18" charset="-127"/>
              </a:rPr>
              <a:t>Operating System (Development Machine)</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Windows 7/10/11, macOS, or Linux</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Minimum 4GB RAM, 500MB free storage</a:t>
            </a:r>
          </a:p>
          <a:p>
            <a:pPr algn="just"/>
            <a:endParaRPr lang="en-IN" sz="2000" dirty="0">
              <a:latin typeface="Arial Narrow" panose="020B0606020202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D7CDCE-7744-E236-87C9-8D6CAE199A2B}"/>
              </a:ext>
            </a:extLst>
          </p:cNvPr>
          <p:cNvSpPr txBox="1"/>
          <p:nvPr/>
        </p:nvSpPr>
        <p:spPr>
          <a:xfrm>
            <a:off x="381000" y="76200"/>
            <a:ext cx="6553200" cy="6863417"/>
          </a:xfrm>
          <a:prstGeom prst="rect">
            <a:avLst/>
          </a:prstGeom>
          <a:noFill/>
        </p:spPr>
        <p:txBody>
          <a:bodyPr wrap="square" rtlCol="0">
            <a:spAutoFit/>
          </a:bodyPr>
          <a:lstStyle/>
          <a:p>
            <a:pPr algn="just"/>
            <a:r>
              <a:rPr lang="en-IN" sz="2000" b="1" i="1" dirty="0">
                <a:latin typeface="Arial Narrow" panose="020B0606020202030204" pitchFamily="34" charset="0"/>
                <a:ea typeface="Batang" panose="02030600000101010101" pitchFamily="18" charset="-127"/>
              </a:rPr>
              <a:t>1. Microcontroller</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Arduino Uno (ATmega328P based)</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Minimum 32KB Flash Memory</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Operating Voltage: 5V</a:t>
            </a:r>
          </a:p>
          <a:p>
            <a:pPr marL="285750" indent="-285750" algn="just">
              <a:buFont typeface="Arial" panose="020B0604020202020204" pitchFamily="34" charset="0"/>
              <a:buChar char="•"/>
            </a:pPr>
            <a:endParaRPr lang="en-IN" sz="2000" dirty="0">
              <a:latin typeface="Arial Narrow" panose="020B0606020202030204" pitchFamily="34" charset="0"/>
              <a:ea typeface="Batang" panose="02030600000101010101" pitchFamily="18" charset="-127"/>
            </a:endParaRPr>
          </a:p>
          <a:p>
            <a:pPr algn="just"/>
            <a:r>
              <a:rPr lang="en-IN" sz="2000" b="1" i="1" dirty="0">
                <a:latin typeface="Arial Narrow" panose="020B0606020202030204" pitchFamily="34" charset="0"/>
                <a:ea typeface="Batang" panose="02030600000101010101" pitchFamily="18" charset="-127"/>
              </a:rPr>
              <a:t>2. Sensors</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HC-SR04 Ultrasonic Sensor (range: 2cm – 400cm)</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Water/Rain Sensor Module</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GPS Module (NEO-6M recommended)</a:t>
            </a:r>
          </a:p>
          <a:p>
            <a:pPr marL="285750" indent="-285750" algn="just">
              <a:buFont typeface="Arial" panose="020B0604020202020204" pitchFamily="34" charset="0"/>
              <a:buChar char="•"/>
            </a:pPr>
            <a:endParaRPr lang="en-IN" sz="2000" b="1" dirty="0">
              <a:latin typeface="Arial Narrow" panose="020B0606020202030204" pitchFamily="34" charset="0"/>
              <a:ea typeface="Batang" panose="02030600000101010101" pitchFamily="18" charset="-127"/>
            </a:endParaRPr>
          </a:p>
          <a:p>
            <a:pPr algn="just"/>
            <a:r>
              <a:rPr lang="en-IN" sz="2000" b="1" i="1" dirty="0">
                <a:latin typeface="Arial Narrow" panose="020B0606020202030204" pitchFamily="34" charset="0"/>
                <a:ea typeface="Batang" panose="02030600000101010101" pitchFamily="18" charset="-127"/>
              </a:rPr>
              <a:t>3. Communication Module</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GSM Module (SIM800L or equivalent)</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SIM card with active network connection</a:t>
            </a:r>
          </a:p>
          <a:p>
            <a:pPr marL="285750" indent="-285750" algn="just">
              <a:buFont typeface="Arial" panose="020B0604020202020204" pitchFamily="34" charset="0"/>
              <a:buChar char="•"/>
            </a:pPr>
            <a:endParaRPr lang="en-IN" sz="2000" dirty="0">
              <a:latin typeface="Arial Narrow" panose="020B0606020202030204" pitchFamily="34" charset="0"/>
              <a:ea typeface="Batang" panose="02030600000101010101" pitchFamily="18" charset="-127"/>
            </a:endParaRPr>
          </a:p>
          <a:p>
            <a:pPr algn="just"/>
            <a:r>
              <a:rPr lang="en-IN" sz="2000" b="1" i="1" dirty="0">
                <a:latin typeface="Arial Narrow" panose="020B0606020202030204" pitchFamily="34" charset="0"/>
                <a:ea typeface="Batang" panose="02030600000101010101" pitchFamily="18" charset="-127"/>
              </a:rPr>
              <a:t>4. Output Components</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Buzzer (Active or Passive)</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Small Display Screen (optional, for distance readings)</a:t>
            </a:r>
          </a:p>
          <a:p>
            <a:pPr marL="285750" indent="-285750" algn="just">
              <a:buFont typeface="Arial" panose="020B0604020202020204" pitchFamily="34" charset="0"/>
              <a:buChar char="•"/>
            </a:pPr>
            <a:endParaRPr lang="en-IN" sz="2000" b="1" dirty="0">
              <a:latin typeface="Arial Narrow" panose="020B0606020202030204" pitchFamily="34" charset="0"/>
              <a:ea typeface="Batang" panose="02030600000101010101" pitchFamily="18" charset="-127"/>
            </a:endParaRPr>
          </a:p>
          <a:p>
            <a:pPr algn="just"/>
            <a:r>
              <a:rPr lang="en-IN" sz="2000" b="1" i="1" dirty="0">
                <a:latin typeface="Arial Narrow" panose="020B0606020202030204" pitchFamily="34" charset="0"/>
                <a:ea typeface="Batang" panose="02030600000101010101" pitchFamily="18" charset="-127"/>
              </a:rPr>
              <a:t>5. Power Supply</a:t>
            </a:r>
            <a:endParaRPr lang="en-IN" sz="2000" i="1" dirty="0">
              <a:latin typeface="Arial Narrow" panose="020B0606020202030204" pitchFamily="34" charset="0"/>
              <a:ea typeface="Batang" panose="02030600000101010101" pitchFamily="18" charset="-127"/>
            </a:endParaRP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9V Battery or Rechargeable Li-ion Battery</a:t>
            </a:r>
          </a:p>
          <a:p>
            <a:pPr marL="285750" indent="-285750" algn="just">
              <a:buFont typeface="Arial" panose="020B0604020202020204" pitchFamily="34" charset="0"/>
              <a:buChar char="•"/>
            </a:pPr>
            <a:r>
              <a:rPr lang="en-IN" sz="2000" dirty="0">
                <a:latin typeface="Arial Narrow" panose="020B0606020202030204" pitchFamily="34" charset="0"/>
                <a:ea typeface="Batang" panose="02030600000101010101" pitchFamily="18" charset="-127"/>
              </a:rPr>
              <a:t>USB connection for programming via computer</a:t>
            </a:r>
          </a:p>
          <a:p>
            <a:pPr algn="just"/>
            <a:endParaRPr lang="en-IN" sz="2000" dirty="0">
              <a:latin typeface="Arial Narrow" panose="020B0606020202030204" pitchFamily="34" charset="0"/>
            </a:endParaRPr>
          </a:p>
        </p:txBody>
      </p:sp>
      <p:sp>
        <p:nvSpPr>
          <p:cNvPr id="8" name="TextBox 7">
            <a:extLst>
              <a:ext uri="{FF2B5EF4-FFF2-40B4-BE49-F238E27FC236}">
                <a16:creationId xmlns:a16="http://schemas.microsoft.com/office/drawing/2014/main" id="{74F031D9-E2E0-D3CA-71CB-62CF8805DB40}"/>
              </a:ext>
            </a:extLst>
          </p:cNvPr>
          <p:cNvSpPr txBox="1"/>
          <p:nvPr/>
        </p:nvSpPr>
        <p:spPr>
          <a:xfrm>
            <a:off x="5640456" y="2812774"/>
            <a:ext cx="914400" cy="914400"/>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519775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5DED39-E7E6-F725-8794-B18717CA0C71}"/>
              </a:ext>
            </a:extLst>
          </p:cNvPr>
          <p:cNvPicPr>
            <a:picLocks noChangeAspect="1"/>
          </p:cNvPicPr>
          <p:nvPr/>
        </p:nvPicPr>
        <p:blipFill>
          <a:blip r:embed="rId2"/>
          <a:srcRect b="7609"/>
          <a:stretch>
            <a:fillRect/>
          </a:stretch>
        </p:blipFill>
        <p:spPr>
          <a:xfrm>
            <a:off x="-1" y="-228599"/>
            <a:ext cx="12478871" cy="7086600"/>
          </a:xfrm>
          <a:prstGeom prst="rect">
            <a:avLst/>
          </a:prstGeom>
        </p:spPr>
      </p:pic>
    </p:spTree>
    <p:extLst>
      <p:ext uri="{BB962C8B-B14F-4D97-AF65-F5344CB8AC3E}">
        <p14:creationId xmlns:p14="http://schemas.microsoft.com/office/powerpoint/2010/main" val="3748405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842385-6F8B-F0DA-C7D8-29283E6423F1}"/>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1775882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3"/>
        <p:cNvGrpSpPr/>
        <p:nvPr/>
      </p:nvGrpSpPr>
      <p:grpSpPr>
        <a:xfrm>
          <a:off x="0" y="0"/>
          <a:ext cx="0" cy="0"/>
          <a:chOff x="0" y="0"/>
          <a:chExt cx="0" cy="0"/>
        </a:xfrm>
      </p:grpSpPr>
      <p:sp>
        <p:nvSpPr>
          <p:cNvPr id="134" name="Google Shape;134;p29"/>
          <p:cNvSpPr txBox="1"/>
          <p:nvPr/>
        </p:nvSpPr>
        <p:spPr>
          <a:xfrm>
            <a:off x="1625400" y="304800"/>
            <a:ext cx="8636400" cy="584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rgbClr val="FF0000"/>
                </a:solidFill>
                <a:latin typeface="Times New Roman" panose="02020603050405020304" pitchFamily="18" charset="0"/>
                <a:ea typeface="Times New Roman"/>
                <a:cs typeface="Times New Roman" panose="02020603050405020304" pitchFamily="18" charset="0"/>
                <a:sym typeface="Times New Roman"/>
              </a:rPr>
              <a:t>CONCLUSION :</a:t>
            </a:r>
            <a:endParaRPr sz="3200" b="1"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6" name="TextBox 5">
            <a:extLst>
              <a:ext uri="{FF2B5EF4-FFF2-40B4-BE49-F238E27FC236}">
                <a16:creationId xmlns:a16="http://schemas.microsoft.com/office/drawing/2014/main" id="{DE74B602-BECF-836C-666E-74D5CD35BA0C}"/>
              </a:ext>
            </a:extLst>
          </p:cNvPr>
          <p:cNvSpPr txBox="1"/>
          <p:nvPr/>
        </p:nvSpPr>
        <p:spPr>
          <a:xfrm>
            <a:off x="381000" y="1447800"/>
            <a:ext cx="11125200" cy="3785652"/>
          </a:xfrm>
          <a:prstGeom prst="rect">
            <a:avLst/>
          </a:prstGeom>
          <a:noFill/>
        </p:spPr>
        <p:txBody>
          <a:bodyPr wrap="square" rtlCol="0">
            <a:spAutoFit/>
          </a:bodyPr>
          <a:lstStyle/>
          <a:p>
            <a:pPr algn="just"/>
            <a:r>
              <a:rPr lang="en-US" sz="2400" dirty="0">
                <a:latin typeface="Arial Narrow" panose="020B0606020202030204" pitchFamily="34" charset="0"/>
                <a:ea typeface="Batang" panose="02030600000101010101" pitchFamily="18" charset="-127"/>
              </a:rPr>
              <a:t>The Smart Blind Stick represents a significant advancement in assistive technology for visually impaired individuals. It successfully integrates ultrasonic sensors, GPS, GSM, and water sensors into a single compact and lightweight device. The system provides real-time obstacle detection and audible alerts, greatly improving user safety during navigation. GPS and GSM modules enable accurate location tracking and emergency communication with trusted contacts. The Arduino Nano microcontroller efficiently processes all sensor data and ensures timely responses to detected hazards. The water sensor and remote localization feature add extra layers of safety and convenience for daily use. Overall, the Smart Blind Stick is a reliable, user-friendly, and transformative solution that empowers visually impaired individuals to navigate independently and confidently.</a:t>
            </a:r>
            <a:endParaRPr lang="en-IN" sz="2400" dirty="0">
              <a:latin typeface="Arial Narrow" panose="020B0606020202030204" pitchFamily="34" charset="0"/>
              <a:ea typeface="Batang" panose="02030600000101010101" pitchFamily="18" charset="-12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9"/>
        <p:cNvGrpSpPr/>
        <p:nvPr/>
      </p:nvGrpSpPr>
      <p:grpSpPr>
        <a:xfrm>
          <a:off x="0" y="0"/>
          <a:ext cx="0" cy="0"/>
          <a:chOff x="0" y="0"/>
          <a:chExt cx="0" cy="0"/>
        </a:xfrm>
      </p:grpSpPr>
      <p:sp>
        <p:nvSpPr>
          <p:cNvPr id="140" name="Google Shape;140;p30"/>
          <p:cNvSpPr txBox="1"/>
          <p:nvPr/>
        </p:nvSpPr>
        <p:spPr>
          <a:xfrm>
            <a:off x="2286000" y="2209800"/>
            <a:ext cx="7827963" cy="201589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2500" dirty="0">
                <a:solidFill>
                  <a:srgbClr val="FF0000"/>
                </a:solidFill>
                <a:latin typeface="Times New Roman" panose="02020603050405020304" pitchFamily="18" charset="0"/>
                <a:ea typeface="Times New Roman"/>
                <a:cs typeface="Times New Roman" panose="02020603050405020304" pitchFamily="18" charset="0"/>
                <a:sym typeface="Times New Roman"/>
              </a:rPr>
              <a:t>Thank You</a:t>
            </a:r>
            <a:endParaRPr sz="125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191</TotalTime>
  <Words>1245</Words>
  <Application>Microsoft Office PowerPoint</Application>
  <PresentationFormat>Widescreen</PresentationFormat>
  <Paragraphs>126</Paragraphs>
  <Slides>14</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 Narrow</vt:lpstr>
      <vt:lpstr>Arial</vt:lpstr>
      <vt:lpstr>Baskerville Old Face</vt:lpstr>
      <vt:lpstr>Aptos Display</vt:lpstr>
      <vt:lpstr>Times New Roman</vt:lpstr>
      <vt:lpstr>Wingdings</vt:lpstr>
      <vt:lpstr>Gill Sans</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Priyanka Patil</dc:creator>
  <cp:lastModifiedBy>umasadashiv@gmail.com</cp:lastModifiedBy>
  <cp:revision>6</cp:revision>
  <dcterms:created xsi:type="dcterms:W3CDTF">2024-03-07T09:03:54Z</dcterms:created>
  <dcterms:modified xsi:type="dcterms:W3CDTF">2026-06-11T13:45:26Z</dcterms:modified>
</cp:coreProperties>
</file>